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60" r:id="rId1"/>
  </p:sldMasterIdLst>
  <p:notesMasterIdLst>
    <p:notesMasterId r:id="rId2"/>
  </p:notesMasterIdLst>
  <p:sldIdLst>
    <p:sldId id="257" r:id="rId3"/>
    <p:sldId id="258" r:id="rId4"/>
    <p:sldId id="259" r:id="rId5"/>
    <p:sldId id="261" r:id="rId6"/>
    <p:sldId id="264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60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tags" Target="tags/tag1.xml" /><Relationship Id="rId46" Type="http://schemas.openxmlformats.org/officeDocument/2006/relationships/presProps" Target="presProps.xml" /><Relationship Id="rId47" Type="http://schemas.openxmlformats.org/officeDocument/2006/relationships/viewProps" Target="viewProps.xml" /><Relationship Id="rId48" Type="http://schemas.openxmlformats.org/officeDocument/2006/relationships/theme" Target="theme/theme1.xml" /><Relationship Id="rId49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0480BA-D86A-41AB-BC43-29CB7B2D5CD4}" type="datetimeFigureOut">
              <a:rPr lang="zh-CN" altLang="en-US" smtClean="0"/>
              <a:t>2023-07-10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CDDD6-26BB-4850-95F2-34D8DF3C91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966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740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defTabSz="1217295" fontAlgn="base">
              <a:spcBef>
                <a:spcPct val="0"/>
              </a:spcBef>
              <a:spcAft>
                <a:spcPct val="0"/>
              </a:spcAft>
              <a:defRPr/>
            </a:pPr>
            <a:fld id="{C3E83408-13E1-4429-91FB-2C4E73E5E907}" type="slidenum">
              <a:rPr lang="zh-CN" altLang="en-US"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2967642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CAFAB-38B0-4C46-AB32-5F146326EB4B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2023-07-10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66E4-BF1F-4E5C-8A8E-C3F60B265DE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784931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CAFAB-38B0-4C46-AB32-5F146326EB4B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2023-07-10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66E4-BF1F-4E5C-8A8E-C3F60B265DE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715675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CAFAB-38B0-4C46-AB32-5F146326EB4B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2023-07-10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66E4-BF1F-4E5C-8A8E-C3F60B265DE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711787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CAFAB-38B0-4C46-AB32-5F146326EB4B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2023-07-10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66E4-BF1F-4E5C-8A8E-C3F60B265DE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312933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CAFAB-38B0-4C46-AB32-5F146326EB4B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2023-07-10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66E4-BF1F-4E5C-8A8E-C3F60B265DE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742923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CAFAB-38B0-4C46-AB32-5F146326EB4B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2023-07-10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66E4-BF1F-4E5C-8A8E-C3F60B265DE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441578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CAFAB-38B0-4C46-AB32-5F146326EB4B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2023-07-10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66E4-BF1F-4E5C-8A8E-C3F60B265DE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536770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CAFAB-38B0-4C46-AB32-5F146326EB4B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2023-07-10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66E4-BF1F-4E5C-8A8E-C3F60B265DE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433750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CAFAB-38B0-4C46-AB32-5F146326EB4B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2023-07-10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66E4-BF1F-4E5C-8A8E-C3F60B265DE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273272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CAFAB-38B0-4C46-AB32-5F146326EB4B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2023-07-10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66E4-BF1F-4E5C-8A8E-C3F60B265DE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495475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CAFAB-38B0-4C46-AB32-5F146326EB4B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2023-07-10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B66E4-BF1F-4E5C-8A8E-C3F60B265DE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620770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image" Target="file:///D:\qq&#25991;&#20214;\712321467\Image\C2C\Image2\%7b75232B38-A165-1FB7-499C-2E1C792CACB5%7d.png" TargetMode="External" /><Relationship Id="rId13" Type="http://schemas.openxmlformats.org/officeDocument/2006/relationships/image" Target="../media/image1.png" /><Relationship Id="rId14" Type="http://schemas.openxmlformats.org/officeDocument/2006/relationships/image" Target="../media/image2.jpeg" /><Relationship Id="rId15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blipFill dpi="0" rotWithShape="1">
          <a:blip r:embed="rId14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CAFAB-38B0-4C46-AB32-5F146326EB4B}" type="datetimeFigureOut">
              <a:rPr lang="zh-CN" altLang="en-US">
                <a:solidFill>
                  <a:prstClr val="black">
                    <a:tint val="75000"/>
                  </a:prstClr>
                </a:solidFill>
              </a:rPr>
              <a:t>2023-07-10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B66E4-BF1F-4E5C-8A8E-C3F60B265DE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1073743875" descr="学科网 zxxk.com" title=""/>
          <p:cNvPicPr>
            <a:picLocks noChangeAspect="1"/>
          </p:cNvPicPr>
          <p:nvPr/>
        </p:nvPicPr>
        <p:blipFill>
          <a:blip r:embed="rId13" r:link="rId1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924640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5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notesSlide" Target="../notesSlides/notesSlide1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slide" Target="slide42.xml" TargetMode="Interna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772529"/>
            <a:ext cx="9144000" cy="1301335"/>
          </a:xfrm>
        </p:spPr>
        <p:txBody>
          <a:bodyPr/>
          <a:lstStyle/>
          <a:p>
            <a:r>
              <a:rPr lang="zh-CN" altLang="en-US" smtClean="0"/>
              <a:t>第五讲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22031" y="3618711"/>
            <a:ext cx="11507372" cy="1012165"/>
          </a:xfrm>
        </p:spPr>
        <p:txBody>
          <a:bodyPr>
            <a:normAutofit/>
          </a:bodyPr>
          <a:lstStyle/>
          <a:p>
            <a:r>
              <a:rPr lang="zh-CN" altLang="en-US" sz="4400" smtClean="0">
                <a:solidFill>
                  <a:srgbClr val="FF0000"/>
                </a:solidFill>
              </a:rPr>
              <a:t>诗歌的思想情感</a:t>
            </a:r>
            <a:endParaRPr lang="en-US" altLang="zh-CN" sz="4400" smtClean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2031" y="375975"/>
            <a:ext cx="60209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</a:rPr>
              <a:t>高三一轮复习之古代诗歌鉴赏</a:t>
            </a:r>
          </a:p>
        </p:txBody>
      </p:sp>
    </p:spTree>
    <p:extLst>
      <p:ext uri="{BB962C8B-B14F-4D97-AF65-F5344CB8AC3E}">
        <p14:creationId xmlns:p14="http://schemas.microsoft.com/office/powerpoint/2010/main" val="570368166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/>
              <a:t>一、考情概览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843" y="1420837"/>
            <a:ext cx="11029071" cy="459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458559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/>
              <a:t>二、古代诗人的人生理想及其情感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CN" sz="3600" smtClean="0"/>
              <a:t>1</a:t>
            </a:r>
            <a:r>
              <a:rPr lang="zh-CN" altLang="en-US" sz="3600" smtClean="0"/>
              <a:t>、古代</a:t>
            </a:r>
            <a:r>
              <a:rPr lang="zh-CN" altLang="en-US" sz="3600"/>
              <a:t>诗人的人生理想和人生道路</a:t>
            </a:r>
          </a:p>
          <a:p>
            <a:r>
              <a:rPr lang="zh-CN" altLang="en-US" sz="3200" smtClean="0"/>
              <a:t>     古代</a:t>
            </a:r>
            <a:r>
              <a:rPr lang="zh-CN" altLang="en-US" sz="3200"/>
              <a:t>诗人的理想是“穷则独善其身，达则兼济天下”和“功成身退”，儒和道成了诗人的两大思想主流。“穷”即政治失意，人生不得志，怀才不遇；“达”即建功立业，功成名就。其中，“独善其身”，可视为身退，就是出世人生；“兼济天下”，可视为功成，就是入世人生。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698375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矩形 3"/>
          <p:cNvSpPr/>
          <p:nvPr/>
        </p:nvSpPr>
        <p:spPr>
          <a:xfrm>
            <a:off x="494203" y="972188"/>
            <a:ext cx="11184550" cy="4679021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711058" algn="just">
              <a:lnSpc>
                <a:spcPct val="150000"/>
              </a:lnSpc>
            </a:pP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古人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身退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的前提是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功成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，但是有作为的诗人大多不能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功成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，只好走三条路：其一，愤世嫉俗，郁闷伤感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多信奉儒家思想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，如屈原、杜甫；其二，黯然退隐，悠然闲适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多信奉道家思想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，如陶渊明、孟浩然；其三，愤世嫉俗，不得不退隐，却又心有不甘，饱受出世与入世矛盾的煎熬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多信奉儒家、道家、佛家思想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，如王维、苏轼。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身退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后，不再关注天下，而是更多地关注自身的品性，在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未功成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和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退隐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之间寻找一个平衡点。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648193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3200" smtClean="0"/>
              <a:t>2</a:t>
            </a:r>
            <a:r>
              <a:rPr lang="zh-CN" altLang="en-US" sz="3200" smtClean="0"/>
              <a:t>、古代</a:t>
            </a:r>
            <a:r>
              <a:rPr lang="zh-CN" altLang="en-US" sz="3200"/>
              <a:t>诗歌</a:t>
            </a:r>
            <a:r>
              <a:rPr lang="zh-CN" altLang="en-US" sz="3200" smtClean="0"/>
              <a:t>的情感类型及体现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033803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矩形 3"/>
          <p:cNvSpPr/>
          <p:nvPr/>
        </p:nvSpPr>
        <p:spPr>
          <a:xfrm>
            <a:off x="471618" y="343431"/>
            <a:ext cx="11184550" cy="73751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711058" algn="ctr">
              <a:lnSpc>
                <a:spcPct val="150000"/>
              </a:lnSpc>
            </a:pPr>
            <a:r>
              <a:rPr lang="zh-CN" altLang="en-US" sz="3200" kern="100" smtClean="0">
                <a:solidFill>
                  <a:srgbClr val="C0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</a:rPr>
              <a:t>（</a:t>
            </a:r>
            <a:r>
              <a:rPr lang="en-US" altLang="zh-CN" sz="3200" kern="100" smtClean="0">
                <a:solidFill>
                  <a:srgbClr val="C0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</a:rPr>
              <a:t>1</a:t>
            </a:r>
            <a:r>
              <a:rPr lang="zh-CN" altLang="en-US" sz="3200" kern="100" smtClean="0">
                <a:solidFill>
                  <a:srgbClr val="C0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</a:rPr>
              <a:t>）</a:t>
            </a:r>
            <a:r>
              <a:rPr lang="zh-CN" altLang="zh-CN" sz="3200" kern="100" smtClean="0">
                <a:solidFill>
                  <a:srgbClr val="C0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古代</a:t>
            </a:r>
            <a:r>
              <a:rPr lang="zh-CN" altLang="zh-CN" sz="3200" kern="100">
                <a:solidFill>
                  <a:srgbClr val="C0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诗人</a:t>
            </a:r>
            <a:r>
              <a:rPr lang="zh-CN" altLang="zh-CN" sz="3200" kern="100" smtClean="0">
                <a:solidFill>
                  <a:srgbClr val="C0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喜怒哀乐</a:t>
            </a:r>
            <a:r>
              <a:rPr lang="zh-CN" altLang="en-US" sz="3200" kern="100" smtClean="0">
                <a:solidFill>
                  <a:srgbClr val="C0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具体体现</a:t>
            </a:r>
            <a:endParaRPr lang="zh-CN" altLang="zh-CN" sz="1200" kern="1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216057"/>
              </p:ext>
            </p:extLst>
          </p:nvPr>
        </p:nvGraphicFramePr>
        <p:xfrm>
          <a:off x="471618" y="1000149"/>
          <a:ext cx="11248763" cy="5568696"/>
        </p:xfrm>
        <a:graphic>
          <a:graphicData uri="http://schemas.openxmlformats.org/drawingml/2006/table">
            <a:tbl>
              <a:tblPr/>
              <a:tblGrid>
                <a:gridCol w="905446"/>
                <a:gridCol w="905446"/>
                <a:gridCol w="9437871"/>
              </a:tblGrid>
              <a:tr h="618601">
                <a:tc rowSpan="4"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喜乐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自然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对自然山水景物的热爱；对春夏秋冬的喜爱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601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人生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隐逸生活闲适、自由；政治得意；功业有成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601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历经战乱后暂得安宁；亲人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友人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团聚；回归故乡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601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国家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国家太平繁荣；百姓安居乐业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601">
                <a:tc rowSpan="5"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悲愤</a:t>
                      </a:r>
                      <a:r>
                        <a:rPr lang="zh-CN" altLang="en-US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（怒哀）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国家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山河沦丧；小人当道；报国无门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601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统治者穷兵黩武；当权者昏庸腐朽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601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百姓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剥削者压榨人民；人民遭受苦难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601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历史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昔盛今衰；王朝兴替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8601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借古讽今；由历史寄托怀才不遇、统治者昏庸、壮志未酬等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219967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153973"/>
              </p:ext>
            </p:extLst>
          </p:nvPr>
        </p:nvGraphicFramePr>
        <p:xfrm>
          <a:off x="471618" y="1109217"/>
          <a:ext cx="11248763" cy="4480560"/>
        </p:xfrm>
        <a:graphic>
          <a:graphicData uri="http://schemas.openxmlformats.org/drawingml/2006/table">
            <a:tbl>
              <a:tblPr/>
              <a:tblGrid>
                <a:gridCol w="1160919"/>
                <a:gridCol w="1151861"/>
                <a:gridCol w="8935983"/>
              </a:tblGrid>
              <a:tr h="639932">
                <a:tc rowSpan="7"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悲愤</a:t>
                      </a:r>
                      <a:r>
                        <a:rPr lang="zh-CN" altLang="en-US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（怒哀）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人生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不得志，仕途失意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932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人生短暂，年华易逝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932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年华已老，壮志未酬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932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客居他乡，孤独寂寞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932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人生无常，伤春悲秋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932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亲人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相思不得相见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932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友人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依依不舍的留恋；离愁别恨；相思担忧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8326" marR="832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300161"/>
      </p:ext>
    </p:extLst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628516"/>
              </p:ext>
            </p:extLst>
          </p:nvPr>
        </p:nvGraphicFramePr>
        <p:xfrm>
          <a:off x="570665" y="1125278"/>
          <a:ext cx="11050670" cy="5132648"/>
        </p:xfrm>
        <a:graphic>
          <a:graphicData uri="http://schemas.openxmlformats.org/drawingml/2006/table">
            <a:tbl>
              <a:tblPr/>
              <a:tblGrid>
                <a:gridCol w="1686575"/>
                <a:gridCol w="9364095"/>
              </a:tblGrid>
              <a:tr h="639932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情感分类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18651" marR="186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altLang="en-US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具体体现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18651" marR="186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2248">
                <a:tc rowSpan="3"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被贬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18651" marR="186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72000" algn="l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自己</a:t>
                      </a: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孤独、无奈、苦闷</a:t>
                      </a: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——</a:t>
                      </a: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基本心情</a:t>
                      </a:r>
                      <a:endParaRPr lang="zh-CN" altLang="zh-CN" sz="1000" kern="100" smtClea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怀才不遇、壮志难酬、报国无门</a:t>
                      </a: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——</a:t>
                      </a: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生活状态</a:t>
                      </a:r>
                      <a:endParaRPr lang="zh-CN" altLang="zh-CN" sz="1000" kern="100" smtClea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50000"/>
                        </a:lnSpc>
                      </a:pP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宦海沉浮</a:t>
                      </a: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</a:rPr>
                        <a:t>(</a:t>
                      </a: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仕途数起数落。如辛弃疾、白居易、苏轼</a:t>
                      </a: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</a:rPr>
                        <a:t>)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18651" marR="186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9796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marL="72000" algn="l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别人</a:t>
                      </a: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仕途不顺</a:t>
                      </a: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——</a:t>
                      </a: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生活状态</a:t>
                      </a:r>
                      <a:endParaRPr lang="zh-CN" altLang="zh-CN" sz="1000" kern="100" smtClean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50000"/>
                        </a:lnSpc>
                      </a:pP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人情淡薄、世态炎凉</a:t>
                      </a: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</a:rPr>
                        <a:t>(</a:t>
                      </a: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无人理会</a:t>
                      </a: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</a:rPr>
                        <a:t>)——</a:t>
                      </a: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感叹奸臣当道、小人得志、贤愚不分</a:t>
                      </a: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</a:rPr>
                        <a:t>(</a:t>
                      </a: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皇帝是非不分</a:t>
                      </a: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</a:rPr>
                        <a:t>)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18651" marR="186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932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marL="72000" algn="l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</a:rPr>
                        <a:t>[</a:t>
                      </a: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社会</a:t>
                      </a: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</a:rPr>
                        <a:t>]</a:t>
                      </a: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忧国忧民</a:t>
                      </a: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</a:rPr>
                        <a:t>(</a:t>
                      </a:r>
                      <a:r>
                        <a:rPr lang="zh-CN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担心国家和人民</a:t>
                      </a:r>
                      <a:r>
                        <a:rPr lang="en-US" altLang="zh-CN" sz="28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</a:rPr>
                        <a:t>)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18651" marR="1865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940148" y="492369"/>
            <a:ext cx="5978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smtClean="0"/>
              <a:t>（</a:t>
            </a:r>
            <a:r>
              <a:rPr lang="en-US" altLang="zh-CN" sz="3600" smtClean="0"/>
              <a:t>2</a:t>
            </a:r>
            <a:r>
              <a:rPr lang="zh-CN" altLang="en-US" sz="3600" smtClean="0"/>
              <a:t>）古诗情感的分类及体现</a:t>
            </a:r>
            <a:endParaRPr lang="zh-CN" altLang="en-US" sz="3600"/>
          </a:p>
        </p:txBody>
      </p:sp>
    </p:spTree>
    <p:extLst>
      <p:ext uri="{BB962C8B-B14F-4D97-AF65-F5344CB8AC3E}">
        <p14:creationId xmlns:p14="http://schemas.microsoft.com/office/powerpoint/2010/main" val="2213259173"/>
      </p:ext>
    </p:extLst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300698" y="198913"/>
          <a:ext cx="11590605" cy="6419088"/>
        </p:xfrm>
        <a:graphic>
          <a:graphicData uri="http://schemas.openxmlformats.org/drawingml/2006/table">
            <a:tbl>
              <a:tblPr/>
              <a:tblGrid>
                <a:gridCol w="1151861"/>
                <a:gridCol w="10438744"/>
              </a:tblGrid>
              <a:tr h="1604401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35000"/>
                        </a:lnSpc>
                        <a:spcAft>
                          <a:spcPct val="0"/>
                        </a:spcAft>
                      </a:pP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思乡</a:t>
                      </a:r>
                      <a:endParaRPr lang="zh-CN" sz="26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72000" algn="l">
                        <a:lnSpc>
                          <a:spcPct val="135000"/>
                        </a:lnSpc>
                        <a:spcAft>
                          <a:spcPct val="0"/>
                        </a:spcAft>
                      </a:pP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自己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孤独、无奈、苦闷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——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情感</a:t>
                      </a:r>
                      <a:endParaRPr lang="zh-CN" sz="26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35000"/>
                        </a:lnSpc>
                        <a:spcAft>
                          <a:spcPct val="0"/>
                        </a:spcAft>
                      </a:pP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漂泊羁旅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——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状态</a:t>
                      </a:r>
                      <a:endParaRPr lang="zh-CN" sz="26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35000"/>
                        </a:lnSpc>
                        <a:spcAft>
                          <a:spcPct val="0"/>
                        </a:spcAft>
                      </a:pP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别人、社会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思乡怀人之情</a:t>
                      </a:r>
                      <a:endParaRPr lang="zh-CN" sz="26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04401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35000"/>
                        </a:lnSpc>
                        <a:spcAft>
                          <a:spcPct val="0"/>
                        </a:spcAft>
                      </a:pP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惜春</a:t>
                      </a:r>
                      <a:endParaRPr lang="zh-CN" sz="26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72000" algn="l">
                        <a:lnSpc>
                          <a:spcPct val="135000"/>
                        </a:lnSpc>
                        <a:spcAft>
                          <a:spcPct val="0"/>
                        </a:spcAft>
                      </a:pP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自己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孤独、无奈、苦闷</a:t>
                      </a:r>
                      <a:endParaRPr lang="zh-CN" sz="26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35000"/>
                        </a:lnSpc>
                        <a:spcAft>
                          <a:spcPct val="0"/>
                        </a:spcAft>
                      </a:pP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社会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对春天的热爱；对春天的挽留之意；惜春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惋惜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之情、伤</a:t>
                      </a:r>
                      <a:r>
                        <a:rPr lang="zh-CN" sz="26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春</a:t>
                      </a:r>
                      <a:r>
                        <a:rPr lang="en-US" sz="26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悲伤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之情</a:t>
                      </a:r>
                      <a:endParaRPr lang="zh-CN" sz="26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04401">
                <a:tc rowSpan="2">
                  <a:txBody>
                    <a:bodyPr vert="horz" wrap="square"/>
                    <a:lstStyle/>
                    <a:p>
                      <a:pPr algn="ctr">
                        <a:lnSpc>
                          <a:spcPct val="135000"/>
                        </a:lnSpc>
                        <a:spcAft>
                          <a:spcPct val="0"/>
                        </a:spcAft>
                      </a:pP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送别</a:t>
                      </a:r>
                      <a:endParaRPr lang="zh-CN" sz="26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72000" algn="l">
                        <a:lnSpc>
                          <a:spcPct val="135000"/>
                        </a:lnSpc>
                        <a:spcAft>
                          <a:spcPct val="0"/>
                        </a:spcAft>
                      </a:pP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自己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孤独、无奈、苦闷</a:t>
                      </a:r>
                      <a:endParaRPr lang="zh-CN" sz="26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35000"/>
                        </a:lnSpc>
                        <a:spcAft>
                          <a:spcPct val="0"/>
                        </a:spcAft>
                      </a:pP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友人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惜别、留恋之情；称赞；感谢；友情深厚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桃花潭水深千尺，不及汪伦送我情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endParaRPr lang="zh-CN" sz="26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04401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marL="72000" algn="l">
                        <a:lnSpc>
                          <a:spcPct val="135000"/>
                        </a:lnSpc>
                        <a:spcAft>
                          <a:spcPct val="0"/>
                        </a:spcAft>
                      </a:pP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友人未离开：叮嘱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嘱咐友人记得做一些事情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；宽慰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安慰，虽然分开，但是不用难过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；祝福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多为好友上任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；勉励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鼓励</a:t>
                      </a:r>
                      <a:r>
                        <a:rPr lang="en-US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endParaRPr lang="zh-CN" sz="26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35000"/>
                        </a:lnSpc>
                        <a:spcAft>
                          <a:spcPct val="0"/>
                        </a:spcAft>
                      </a:pPr>
                      <a:r>
                        <a:rPr lang="zh-CN" sz="26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友人走后：思念之情</a:t>
                      </a:r>
                      <a:endParaRPr lang="zh-CN" sz="26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139656"/>
      </p:ext>
    </p:extLst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26683" y="1053286"/>
          <a:ext cx="11338636" cy="4480560"/>
        </p:xfrm>
        <a:graphic>
          <a:graphicData uri="http://schemas.openxmlformats.org/drawingml/2006/table">
            <a:tbl>
              <a:tblPr/>
              <a:tblGrid>
                <a:gridCol w="1224275"/>
                <a:gridCol w="1079870"/>
                <a:gridCol w="9034491"/>
              </a:tblGrid>
              <a:tr h="2559727">
                <a:tc rowSpan="2"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战争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 vert="horz" wrap="square"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战胜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72000" algn="l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(1)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战胜，继续作战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自己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勇敢杀敌，必胜的信念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别人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全歼敌人的决心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社会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爱国主义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9796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marL="72000" algn="l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(2)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战胜，停止作战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自己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愉悦之情，凯旋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50000"/>
                        </a:lnSpc>
                        <a:spcAft>
                          <a:spcPct val="0"/>
                        </a:spcAft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社会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对战争的反思，思归之情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5048004"/>
      </p:ext>
    </p:extLst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282700" y="242336"/>
          <a:ext cx="11626601" cy="6336792"/>
        </p:xfrm>
        <a:graphic>
          <a:graphicData uri="http://schemas.openxmlformats.org/drawingml/2006/table">
            <a:tbl>
              <a:tblPr/>
              <a:tblGrid>
                <a:gridCol w="864170"/>
                <a:gridCol w="864170"/>
                <a:gridCol w="9898261"/>
              </a:tblGrid>
              <a:tr h="1727816">
                <a:tc rowSpan="2">
                  <a:txBody>
                    <a:bodyPr vert="horz" wrap="square"/>
                    <a:lstStyle/>
                    <a:p>
                      <a:pPr algn="ctr">
                        <a:lnSpc>
                          <a:spcPct val="140000"/>
                        </a:lnSpc>
                        <a:spcAft>
                          <a:spcPct val="0"/>
                        </a:spcAft>
                      </a:pPr>
                      <a:r>
                        <a:rPr lang="zh-CN" altLang="zh-CN" sz="2700" kern="100" smtClean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战争</a:t>
                      </a:r>
                      <a:endParaRPr lang="zh-CN" sz="27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 vert="horz" wrap="square"/>
                    <a:lstStyle/>
                    <a:p>
                      <a:pPr algn="ctr">
                        <a:lnSpc>
                          <a:spcPct val="140000"/>
                        </a:lnSpc>
                        <a:spcAft>
                          <a:spcPct val="0"/>
                        </a:spcAft>
                      </a:pP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战败</a:t>
                      </a:r>
                      <a:endParaRPr lang="zh-CN" sz="27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72000" algn="l">
                        <a:lnSpc>
                          <a:spcPct val="140000"/>
                        </a:lnSpc>
                        <a:spcAft>
                          <a:spcPct val="0"/>
                        </a:spcAft>
                      </a:pP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(1)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战败，继续作战</a:t>
                      </a: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一般是正在打仗的人写的诗</a:t>
                      </a: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endParaRPr lang="zh-CN" sz="27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40000"/>
                        </a:lnSpc>
                        <a:spcAft>
                          <a:spcPct val="0"/>
                        </a:spcAft>
                      </a:pP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自己</a:t>
                      </a: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英勇杀敌，必胜的信念，力挽狂澜的决心</a:t>
                      </a:r>
                      <a:endParaRPr lang="zh-CN" sz="27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40000"/>
                        </a:lnSpc>
                        <a:spcAft>
                          <a:spcPct val="0"/>
                        </a:spcAft>
                      </a:pP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社会</a:t>
                      </a: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爱国之情</a:t>
                      </a:r>
                      <a:endParaRPr lang="zh-CN" sz="27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07509"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pPr marL="72000" algn="l">
                        <a:lnSpc>
                          <a:spcPct val="140000"/>
                        </a:lnSpc>
                        <a:spcAft>
                          <a:spcPct val="0"/>
                        </a:spcAft>
                      </a:pP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(2)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战败，停止作战</a:t>
                      </a: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国破</a:t>
                      </a: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)(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将领一般不会说</a:t>
                      </a:r>
                      <a:r>
                        <a:rPr lang="en-US" sz="2700" kern="100">
                          <a:effectLst/>
                          <a:latin typeface="宋体" panose="02010600030101010101" pitchFamily="2" charset="-122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停止作战</a:t>
                      </a:r>
                      <a:r>
                        <a:rPr lang="en-US" sz="2700" kern="100">
                          <a:effectLst/>
                          <a:latin typeface="宋体" panose="02010600030101010101" pitchFamily="2" charset="-122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和认输，这样说的大多是文人，诗中多形容</a:t>
                      </a:r>
                      <a:r>
                        <a:rPr lang="en-US" sz="2700" kern="100">
                          <a:effectLst/>
                          <a:latin typeface="宋体" panose="02010600030101010101" pitchFamily="2" charset="-122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惨状</a:t>
                      </a:r>
                      <a:r>
                        <a:rPr lang="en-US" sz="2700" kern="100">
                          <a:effectLst/>
                          <a:latin typeface="宋体" panose="02010600030101010101" pitchFamily="2" charset="-122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，即</a:t>
                      </a:r>
                      <a:r>
                        <a:rPr lang="en-US" sz="2700" kern="100">
                          <a:effectLst/>
                          <a:latin typeface="宋体" panose="02010600030101010101" pitchFamily="2" charset="-122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国破</a:t>
                      </a:r>
                      <a:r>
                        <a:rPr lang="en-US" sz="2700" kern="100">
                          <a:effectLst/>
                          <a:latin typeface="宋体" panose="02010600030101010101" pitchFamily="2" charset="-122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。少数将领则是诉说战败的无奈</a:t>
                      </a: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endParaRPr lang="zh-CN" sz="27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40000"/>
                        </a:lnSpc>
                        <a:spcAft>
                          <a:spcPct val="0"/>
                        </a:spcAft>
                      </a:pP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自己</a:t>
                      </a: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孤独、无奈、苦闷</a:t>
                      </a:r>
                      <a:endParaRPr lang="zh-CN" sz="27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40000"/>
                        </a:lnSpc>
                        <a:spcAft>
                          <a:spcPct val="0"/>
                        </a:spcAft>
                      </a:pP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别人</a:t>
                      </a: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700" kern="100" spc="-100" baseline="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对君主无能的痛心，对敌人入侵的痛恨，对百姓离散的同情</a:t>
                      </a:r>
                      <a:endParaRPr lang="zh-CN" sz="2700" kern="100" spc="-100" baseline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40000"/>
                        </a:lnSpc>
                        <a:spcAft>
                          <a:spcPct val="0"/>
                        </a:spcAft>
                      </a:pP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社会</a:t>
                      </a: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对国家昔盛今衰的感慨，对国家破败的感怀，亡国之痛</a:t>
                      </a:r>
                      <a:endParaRPr lang="zh-CN" sz="27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40000"/>
                        </a:lnSpc>
                        <a:spcAft>
                          <a:spcPct val="0"/>
                        </a:spcAft>
                      </a:pP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可能还会出现对战争的厌恶，对和平的渴望，对国家破败、分裂的感怀等</a:t>
                      </a:r>
                      <a:r>
                        <a:rPr lang="en-US" sz="27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endParaRPr lang="zh-CN" sz="27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564919"/>
      </p:ext>
    </p:extLst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372689" y="317480"/>
          <a:ext cx="11446622" cy="6187440"/>
        </p:xfrm>
        <a:graphic>
          <a:graphicData uri="http://schemas.openxmlformats.org/drawingml/2006/table">
            <a:tbl>
              <a:tblPr/>
              <a:tblGrid>
                <a:gridCol w="1043874"/>
                <a:gridCol w="899892"/>
                <a:gridCol w="9502856"/>
              </a:tblGrid>
              <a:tr h="1237202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山水之乐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vert="horz" wrap="square"/>
                    <a:lstStyle/>
                    <a:p>
                      <a:pPr marL="72000" algn="l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自己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愉悦之情、归隐之情、闲适淡泊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状态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社会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对大自然的喜爱与赞美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情感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093004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豁达之情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vert="horz" wrap="square"/>
                    <a:lstStyle/>
                    <a:p>
                      <a:pPr marL="72000" algn="l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困境中依然乐观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困境：被贬、分别、思乡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被贬：先答怀才不遇，再答乐观豁达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分别：先答依依惜别，再答乐观豁达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思乡：先答孤独、无奈、苦闷、羁旅漂泊，再答乐观豁达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自己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愉悦之情、历经坎坷、乐观豁达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855802">
                <a:tc>
                  <a:txBody>
                    <a:bodyPr vert="horz" wrap="square"/>
                    <a:lstStyle/>
                    <a:p>
                      <a:pPr algn="ctr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功名哲理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vert="horz" wrap="square"/>
                    <a:lstStyle/>
                    <a:p>
                      <a:pPr marL="72000" algn="l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不贪图功名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一般是由无法得到官职之人所作的诗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；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人生哲理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结合诗句情境、作者本人与写作对象进行分析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；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  <a:p>
                      <a:pPr marL="72000" algn="l">
                        <a:lnSpc>
                          <a:spcPct val="145000"/>
                        </a:lnSpc>
                        <a:spcAft>
                          <a:spcPct val="0"/>
                        </a:spcAft>
                      </a:pP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对读者的一种告诫与劝慰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zh-CN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Times New Roman" panose="02020603050405020304" pitchFamily="18" charset="0"/>
                        </a:rPr>
                        <a:t>看写给谁，该怎么做</a:t>
                      </a:r>
                      <a:r>
                        <a:rPr lang="en-US" sz="2800" kern="100">
                          <a:effectLst/>
                          <a:latin typeface="Times New Roman" panose="02020603050405020304" pitchFamily="18" charset="0"/>
                          <a:ea typeface="方正中等线简体" panose="03000509000000000000" pitchFamily="65" charset="-122"/>
                          <a:cs typeface="Courier New" panose="02070309020205020404" pitchFamily="49" charset="0"/>
                        </a:rPr>
                        <a:t>)</a:t>
                      </a:r>
                      <a:endParaRPr lang="zh-CN" sz="2800" kern="10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Courier New" panose="02070309020205020404" pitchFamily="49" charset="0"/>
                      </a:endParaRPr>
                    </a:p>
                  </a:txBody>
                  <a:tcPr marL="3559" marR="355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 vert="horz" wrap="square"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775416"/>
      </p:ext>
    </p:extLst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3200" smtClean="0"/>
              <a:t>（</a:t>
            </a:r>
            <a:r>
              <a:rPr lang="en-US" altLang="zh-CN" sz="3200"/>
              <a:t>3</a:t>
            </a:r>
            <a:r>
              <a:rPr lang="zh-CN" altLang="en-US" sz="3200" smtClean="0"/>
              <a:t>）诗歌题材与情感</a:t>
            </a:r>
            <a:endParaRPr lang="zh-CN" altLang="en-US" sz="320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6678615"/>
              </p:ext>
            </p:extLst>
          </p:nvPr>
        </p:nvGraphicFramePr>
        <p:xfrm>
          <a:off x="739725" y="1445798"/>
          <a:ext cx="10837985" cy="493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456"/>
                <a:gridCol w="9628529"/>
              </a:tblGrid>
              <a:tr h="370840"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题材</a:t>
                      </a:r>
                      <a:endParaRPr lang="zh-CN" altLang="en-US" sz="3200"/>
                    </a:p>
                  </a:txBody>
                  <a:tcPr anchor="ctr"/>
                </a:tc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情感</a:t>
                      </a:r>
                      <a:endParaRPr lang="zh-CN" altLang="en-US" sz="3200"/>
                    </a:p>
                  </a:txBody>
                  <a:tcPr anchor="ctr"/>
                </a:tc>
              </a:tr>
              <a:tr h="370840"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咏史怀古诗</a:t>
                      </a:r>
                      <a:endParaRPr lang="zh-CN" altLang="en-US" sz="3200"/>
                    </a:p>
                  </a:txBody>
                  <a:tcPr anchor="ctr"/>
                </a:tc>
                <a:tc>
                  <a:txBody>
                    <a:bodyPr vert="horz" wrap="square"/>
                    <a:lstStyle/>
                    <a:p>
                      <a:pPr algn="l"/>
                      <a:r>
                        <a:rPr lang="zh-CN" altLang="en-US" sz="2800" smtClean="0"/>
                        <a:t>   感慨壮志难酬或怀才不遇，面对古人功业的流逝，抒发时光不再，年华易老，而自己功业无成的感慨。</a:t>
                      </a:r>
                    </a:p>
                    <a:p>
                      <a:pPr algn="l"/>
                      <a:r>
                        <a:rPr lang="zh-CN" altLang="en-US" sz="2800" smtClean="0"/>
                        <a:t>   感慨国运衰微，感慨盛衰无常，感叹昔盛今衰，物是人非，喟叹古今朝代兴亡变化。</a:t>
                      </a:r>
                    </a:p>
                    <a:p>
                      <a:pPr algn="l"/>
                      <a:r>
                        <a:rPr lang="zh-CN" altLang="en-US" sz="2800" smtClean="0"/>
                        <a:t>   抒发爱国之情，警告统治者吸取历史教训，借古讽今，批判现实，劝诫今人不要一味贪图享乐，过度奢侈，以免重蹈覆辙。</a:t>
                      </a:r>
                    </a:p>
                    <a:p>
                      <a:pPr algn="l"/>
                      <a:r>
                        <a:rPr lang="zh-CN" altLang="en-US" sz="2800" smtClean="0"/>
                        <a:t>   缅怀先贤的成就，表达自己渴望像古人那样建功立业的心情或功业无成的感慨。</a:t>
                      </a:r>
                    </a:p>
                    <a:p>
                      <a:pPr algn="l"/>
                      <a:r>
                        <a:rPr lang="zh-CN" altLang="en-US" sz="2800" smtClean="0"/>
                        <a:t>  对历史作冷静的思考，针对具体的历史事件发表自己的见解。</a:t>
                      </a:r>
                      <a:endParaRPr lang="zh-CN" altLang="en-US" sz="280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05478"/>
      </p:ext>
    </p:extLst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6994455"/>
              </p:ext>
            </p:extLst>
          </p:nvPr>
        </p:nvGraphicFramePr>
        <p:xfrm>
          <a:off x="677007" y="960120"/>
          <a:ext cx="10837985" cy="451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456"/>
                <a:gridCol w="9628529"/>
              </a:tblGrid>
              <a:tr h="370840"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题材</a:t>
                      </a:r>
                      <a:endParaRPr lang="zh-CN" altLang="en-US" sz="3200"/>
                    </a:p>
                  </a:txBody>
                  <a:tcPr anchor="ctr"/>
                </a:tc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情感</a:t>
                      </a:r>
                      <a:endParaRPr lang="zh-CN" altLang="en-US" sz="3200"/>
                    </a:p>
                  </a:txBody>
                  <a:tcPr anchor="ctr"/>
                </a:tc>
              </a:tr>
              <a:tr h="370840"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山水田园诗</a:t>
                      </a:r>
                      <a:endParaRPr lang="zh-CN" altLang="en-US" sz="3200"/>
                    </a:p>
                  </a:txBody>
                  <a:tcPr anchor="ctr"/>
                </a:tc>
                <a:tc>
                  <a:txBody>
                    <a:bodyPr vert="horz" wrap="square"/>
                    <a:lstStyle/>
                    <a:p>
                      <a:pPr algn="l"/>
                      <a:r>
                        <a:rPr lang="zh-CN" altLang="en-US" sz="2800" smtClean="0"/>
                        <a:t>    表达对大自然的喜爱之情。</a:t>
                      </a:r>
                    </a:p>
                    <a:p>
                      <a:pPr algn="l"/>
                      <a:r>
                        <a:rPr lang="zh-CN" altLang="en-US" sz="2800" smtClean="0"/>
                        <a:t>    表达对官场仕途的厌倦，对黑暗现实的不满甚至愤怒，抒发自己决不同流合污的高洁品格或怀才不遇的苦闷。</a:t>
                      </a:r>
                    </a:p>
                    <a:p>
                      <a:pPr algn="l"/>
                      <a:r>
                        <a:rPr lang="zh-CN" altLang="en-US" sz="2800" smtClean="0"/>
                        <a:t>    表达对归隐山居和闲适恬淡的田园生活的喜爱和向往，抒发了闲适淡泊、悠然自得的心情。</a:t>
                      </a:r>
                    </a:p>
                    <a:p>
                      <a:pPr algn="l"/>
                      <a:r>
                        <a:rPr lang="zh-CN" altLang="en-US" sz="2800" smtClean="0"/>
                        <a:t>    折射出诗人出世与入世的矛盾心理。</a:t>
                      </a:r>
                    </a:p>
                    <a:p>
                      <a:pPr algn="l"/>
                      <a:r>
                        <a:rPr lang="zh-CN" altLang="en-US" sz="2800" smtClean="0"/>
                        <a:t>    歌颂劳动生活，抒发在劳动中与农民的深厚情谊。</a:t>
                      </a:r>
                    </a:p>
                    <a:p>
                      <a:pPr algn="l"/>
                      <a:r>
                        <a:rPr lang="zh-CN" altLang="en-US" sz="2800" smtClean="0"/>
                        <a:t>    揭露封建统治者的残暴，反映农村生活的艰辛以及农民的痛苦。</a:t>
                      </a:r>
                      <a:endParaRPr lang="zh-CN" altLang="en-US" sz="280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6562517"/>
      </p:ext>
    </p:extLst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6736685"/>
              </p:ext>
            </p:extLst>
          </p:nvPr>
        </p:nvGraphicFramePr>
        <p:xfrm>
          <a:off x="677007" y="960120"/>
          <a:ext cx="10837985" cy="408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456"/>
                <a:gridCol w="9628529"/>
              </a:tblGrid>
              <a:tr h="370840"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题材</a:t>
                      </a:r>
                      <a:endParaRPr lang="zh-CN" altLang="en-US" sz="3200"/>
                    </a:p>
                  </a:txBody>
                  <a:tcPr anchor="ctr"/>
                </a:tc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情感</a:t>
                      </a:r>
                      <a:endParaRPr lang="zh-CN" altLang="en-US" sz="3200"/>
                    </a:p>
                  </a:txBody>
                  <a:tcPr anchor="ctr"/>
                </a:tc>
              </a:tr>
              <a:tr h="370840"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边塞征战诗</a:t>
                      </a:r>
                      <a:endParaRPr lang="zh-CN" altLang="en-US" sz="3200"/>
                    </a:p>
                  </a:txBody>
                  <a:tcPr anchor="ctr"/>
                </a:tc>
                <a:tc>
                  <a:txBody>
                    <a:bodyPr vert="horz" wrap="square"/>
                    <a:lstStyle/>
                    <a:p>
                      <a:pPr algn="l"/>
                      <a:r>
                        <a:rPr lang="zh-CN" altLang="en-US" sz="2800" smtClean="0"/>
                        <a:t>    描绘边塞雄奇壮丽的独特景观，赞美祖国河山。</a:t>
                      </a:r>
                    </a:p>
                    <a:p>
                      <a:pPr algn="l"/>
                      <a:r>
                        <a:rPr lang="zh-CN" altLang="en-US" sz="2800" smtClean="0"/>
                        <a:t>    描绘艰苦激烈的戍边生活，及将士们与亲人的离别情绪，表达对家乡亲人的思念。</a:t>
                      </a:r>
                    </a:p>
                    <a:p>
                      <a:pPr algn="l"/>
                      <a:r>
                        <a:rPr lang="zh-CN" altLang="en-US" sz="2800" baseline="0" smtClean="0"/>
                        <a:t>    </a:t>
                      </a:r>
                      <a:r>
                        <a:rPr lang="zh-CN" altLang="en-US" sz="2800" smtClean="0"/>
                        <a:t>抒写战士建功立业的渴望，保家卫国的决心，不惜为国捐躯的豪情壮志。</a:t>
                      </a:r>
                    </a:p>
                    <a:p>
                      <a:pPr algn="l"/>
                      <a:r>
                        <a:rPr lang="zh-CN" altLang="en-US" sz="2800" baseline="0" smtClean="0"/>
                        <a:t>    </a:t>
                      </a:r>
                      <a:r>
                        <a:rPr lang="zh-CN" altLang="en-US" sz="2800" smtClean="0"/>
                        <a:t>表达报国无门的哀痛，壮志难酬的哀伤。</a:t>
                      </a:r>
                    </a:p>
                    <a:p>
                      <a:pPr algn="l"/>
                      <a:r>
                        <a:rPr lang="zh-CN" altLang="en-US" sz="2800" baseline="0" smtClean="0"/>
                        <a:t>    </a:t>
                      </a:r>
                      <a:r>
                        <a:rPr lang="zh-CN" altLang="en-US" sz="2800" smtClean="0"/>
                        <a:t>揭露官兵之间的矛盾，批评边将无能，控诉统治者的穷兵黩武。</a:t>
                      </a:r>
                      <a:endParaRPr lang="zh-CN" altLang="en-US" sz="280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858675"/>
      </p:ext>
    </p:extLst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0799620"/>
              </p:ext>
            </p:extLst>
          </p:nvPr>
        </p:nvGraphicFramePr>
        <p:xfrm>
          <a:off x="677007" y="960120"/>
          <a:ext cx="10837985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456"/>
                <a:gridCol w="9628529"/>
              </a:tblGrid>
              <a:tr h="370840"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题材</a:t>
                      </a:r>
                      <a:endParaRPr lang="zh-CN" altLang="en-US" sz="3200"/>
                    </a:p>
                  </a:txBody>
                  <a:tcPr anchor="ctr"/>
                </a:tc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情感</a:t>
                      </a:r>
                      <a:endParaRPr lang="zh-CN" altLang="en-US" sz="3200"/>
                    </a:p>
                  </a:txBody>
                  <a:tcPr anchor="ctr"/>
                </a:tc>
              </a:tr>
              <a:tr h="370840"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羁旅思乡诗</a:t>
                      </a:r>
                      <a:endParaRPr lang="zh-CN" altLang="en-US" sz="3200"/>
                    </a:p>
                  </a:txBody>
                  <a:tcPr anchor="ctr"/>
                </a:tc>
                <a:tc>
                  <a:txBody>
                    <a:bodyPr vert="horz" wrap="square"/>
                    <a:lstStyle/>
                    <a:p>
                      <a:pPr algn="l"/>
                      <a:r>
                        <a:rPr lang="zh-CN" altLang="en-US" sz="2800" smtClean="0"/>
                        <a:t>    ①天涯漂泊羁旅愁。叙写客居他乡的艰难，抒发漂泊无定的孤苦。</a:t>
                      </a:r>
                      <a:endParaRPr lang="en-US" altLang="zh-CN" sz="2800" smtClean="0"/>
                    </a:p>
                    <a:p>
                      <a:pPr algn="l"/>
                      <a:r>
                        <a:rPr lang="en-US" altLang="zh-CN" sz="2800" smtClean="0"/>
                        <a:t>    </a:t>
                      </a:r>
                      <a:r>
                        <a:rPr lang="zh-CN" altLang="en-US" sz="2800" smtClean="0"/>
                        <a:t>②望尽天涯怀人愁。感念亲情、爱情之深，表达对亲人、恋人的思念。</a:t>
                      </a:r>
                      <a:endParaRPr lang="en-US" altLang="zh-CN" sz="2800" smtClean="0"/>
                    </a:p>
                    <a:p>
                      <a:pPr algn="l"/>
                      <a:r>
                        <a:rPr lang="en-US" altLang="zh-CN" sz="2800" smtClean="0"/>
                        <a:t>     </a:t>
                      </a:r>
                      <a:r>
                        <a:rPr lang="zh-CN" altLang="en-US" sz="2800" smtClean="0"/>
                        <a:t>③羁旅他乡的幽怨之情。或表达人生感叹，流露年华易逝的苦闷；或抒发独居他乡、怀才不遇、报国无门的孤独寂寞、幽怨愤慨之情。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613019"/>
      </p:ext>
    </p:extLst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5921680"/>
              </p:ext>
            </p:extLst>
          </p:nvPr>
        </p:nvGraphicFramePr>
        <p:xfrm>
          <a:off x="677007" y="960120"/>
          <a:ext cx="10837985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456"/>
                <a:gridCol w="9628529"/>
              </a:tblGrid>
              <a:tr h="370840"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题材</a:t>
                      </a:r>
                      <a:endParaRPr lang="zh-CN" altLang="en-US" sz="3200"/>
                    </a:p>
                  </a:txBody>
                  <a:tcPr anchor="ctr"/>
                </a:tc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情感</a:t>
                      </a:r>
                      <a:endParaRPr lang="zh-CN" altLang="en-US" sz="3200"/>
                    </a:p>
                  </a:txBody>
                  <a:tcPr anchor="ctr"/>
                </a:tc>
              </a:tr>
              <a:tr h="370840"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送别怀人诗</a:t>
                      </a:r>
                      <a:endParaRPr lang="zh-CN" altLang="en-US" sz="3200"/>
                    </a:p>
                  </a:txBody>
                  <a:tcPr anchor="ctr"/>
                </a:tc>
                <a:tc>
                  <a:txBody>
                    <a:bodyPr vert="horz" wrap="square"/>
                    <a:lstStyle/>
                    <a:p>
                      <a:pPr algn="l"/>
                      <a:r>
                        <a:rPr lang="zh-CN" altLang="en-US" sz="3200" smtClean="0"/>
                        <a:t>①依依惜别的不舍与伤感。</a:t>
                      </a:r>
                    </a:p>
                    <a:p>
                      <a:pPr algn="l"/>
                      <a:r>
                        <a:rPr lang="zh-CN" altLang="en-US" sz="3200" smtClean="0"/>
                        <a:t>②离别后的思念与牵挂。</a:t>
                      </a:r>
                    </a:p>
                    <a:p>
                      <a:pPr algn="l"/>
                      <a:r>
                        <a:rPr lang="zh-CN" altLang="en-US" sz="3200" smtClean="0"/>
                        <a:t>③对友人的安慰与勉励。</a:t>
                      </a:r>
                    </a:p>
                    <a:p>
                      <a:pPr algn="l"/>
                      <a:r>
                        <a:rPr lang="zh-CN" altLang="en-US" sz="3200" smtClean="0"/>
                        <a:t>④借送别友人表明自己的心志。</a:t>
                      </a:r>
                    </a:p>
                    <a:p>
                      <a:pPr algn="l"/>
                      <a:r>
                        <a:rPr lang="zh-CN" altLang="en-US" sz="3200" smtClean="0"/>
                        <a:t>⑤抒发对人生的感慨。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9629658"/>
      </p:ext>
    </p:extLst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7011219"/>
              </p:ext>
            </p:extLst>
          </p:nvPr>
        </p:nvGraphicFramePr>
        <p:xfrm>
          <a:off x="677007" y="960120"/>
          <a:ext cx="10837985" cy="3596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456"/>
                <a:gridCol w="9628529"/>
              </a:tblGrid>
              <a:tr h="370840"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题材</a:t>
                      </a:r>
                      <a:endParaRPr lang="zh-CN" altLang="en-US" sz="3200"/>
                    </a:p>
                  </a:txBody>
                  <a:tcPr anchor="ctr"/>
                </a:tc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情感</a:t>
                      </a:r>
                      <a:endParaRPr lang="zh-CN" altLang="en-US" sz="3200"/>
                    </a:p>
                  </a:txBody>
                  <a:tcPr anchor="ctr"/>
                </a:tc>
              </a:tr>
              <a:tr h="370840"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托物言志诗</a:t>
                      </a:r>
                      <a:endParaRPr lang="zh-CN" altLang="en-US" sz="3200"/>
                    </a:p>
                  </a:txBody>
                  <a:tcPr anchor="ctr"/>
                </a:tc>
                <a:tc>
                  <a:txBody>
                    <a:bodyPr vert="horz" wrap="square"/>
                    <a:lstStyle/>
                    <a:p>
                      <a:pPr algn="l"/>
                      <a:r>
                        <a:rPr lang="zh-CN" altLang="en-US" sz="3200" smtClean="0"/>
                        <a:t>①寄寓作者的理想抱负，或实现个人理想，或报效国家。</a:t>
                      </a:r>
                    </a:p>
                    <a:p>
                      <a:pPr algn="l"/>
                      <a:r>
                        <a:rPr lang="zh-CN" altLang="en-US" sz="3200" smtClean="0"/>
                        <a:t>②寄寓高尚的节操，或表达怀才不遇与命途多舛的伤感，或抒发年华易逝与理想破灭的哀愁。</a:t>
                      </a:r>
                    </a:p>
                    <a:p>
                      <a:pPr algn="l"/>
                      <a:r>
                        <a:rPr lang="zh-CN" altLang="en-US" sz="3200" smtClean="0"/>
                        <a:t>③托物讽世，或忧国忧民，或感时伤世，或愤世嫉俗，或针砭时弊。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070127"/>
      </p:ext>
    </p:extLst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2881526"/>
              </p:ext>
            </p:extLst>
          </p:nvPr>
        </p:nvGraphicFramePr>
        <p:xfrm>
          <a:off x="677007" y="960120"/>
          <a:ext cx="10837985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456"/>
                <a:gridCol w="9628529"/>
              </a:tblGrid>
              <a:tr h="370840"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题材</a:t>
                      </a:r>
                      <a:endParaRPr lang="zh-CN" altLang="en-US" sz="3200"/>
                    </a:p>
                  </a:txBody>
                  <a:tcPr anchor="ctr"/>
                </a:tc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情感</a:t>
                      </a:r>
                      <a:endParaRPr lang="zh-CN" altLang="en-US" sz="3200"/>
                    </a:p>
                  </a:txBody>
                  <a:tcPr anchor="ctr"/>
                </a:tc>
              </a:tr>
              <a:tr h="370840">
                <a:tc>
                  <a:txBody>
                    <a:bodyPr vert="horz" wrap="square"/>
                    <a:lstStyle/>
                    <a:p>
                      <a:pPr algn="ctr"/>
                      <a:r>
                        <a:rPr lang="zh-CN" altLang="en-US" sz="3200" smtClean="0"/>
                        <a:t>即事（景）抒怀诗</a:t>
                      </a:r>
                      <a:endParaRPr lang="zh-CN" altLang="en-US" sz="3200"/>
                    </a:p>
                  </a:txBody>
                  <a:tcPr anchor="ctr"/>
                </a:tc>
                <a:tc>
                  <a:txBody>
                    <a:bodyPr vert="horz" wrap="square"/>
                    <a:lstStyle/>
                    <a:p>
                      <a:pPr algn="l"/>
                      <a:r>
                        <a:rPr lang="zh-CN" altLang="en-US" sz="3200" smtClean="0"/>
                        <a:t>①寄情山水，表达出对和平宁静生活的热爱。</a:t>
                      </a:r>
                    </a:p>
                    <a:p>
                      <a:pPr algn="l"/>
                      <a:r>
                        <a:rPr lang="zh-CN" altLang="en-US" sz="3200" smtClean="0"/>
                        <a:t>②表现作者向往悠闲舒适的隐居生活的情趣。</a:t>
                      </a:r>
                    </a:p>
                    <a:p>
                      <a:pPr algn="l"/>
                      <a:r>
                        <a:rPr lang="zh-CN" altLang="en-US" sz="3200" smtClean="0"/>
                        <a:t>③抒写政治上的失意和对世事的感慨。</a:t>
                      </a:r>
                    </a:p>
                    <a:p>
                      <a:pPr algn="l"/>
                      <a:r>
                        <a:rPr lang="zh-CN" altLang="en-US" sz="3200" smtClean="0"/>
                        <a:t>④表达对现实的愤慨、不满和壮志难酬及怀才不遇的惆怅之情。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443658"/>
      </p:ext>
    </p:extLst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/>
              <a:t>三、把握分析情感的方法与路径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rcRect l="34927"/>
          <a:stretch>
            <a:fillRect/>
          </a:stretch>
        </p:blipFill>
        <p:spPr>
          <a:xfrm>
            <a:off x="4533364" y="1690688"/>
            <a:ext cx="4248851" cy="447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542953"/>
      </p:ext>
    </p:extLst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A481929-0210-8D43-A5ED-9FF24E4F4ECA}"/>
              </a:ext>
            </a:extLst>
          </p:cNvPr>
          <p:cNvSpPr/>
          <p:nvPr/>
        </p:nvSpPr>
        <p:spPr>
          <a:xfrm>
            <a:off x="399162" y="697462"/>
            <a:ext cx="11208552" cy="5292165"/>
          </a:xfrm>
          <a:prstGeom prst="rect">
            <a:avLst/>
          </a:prstGeom>
        </p:spPr>
        <p:txBody>
          <a:bodyPr wrap="square" lIns="121870" tIns="60934" rIns="121870" bIns="60934">
            <a:spAutoFit/>
          </a:bodyPr>
          <a:lstStyle/>
          <a:p>
            <a:pPr indent="711058" algn="ctr">
              <a:lnSpc>
                <a:spcPct val="150000"/>
              </a:lnSpc>
            </a:pPr>
            <a:r>
              <a:rPr lang="en-US" altLang="zh-CN" sz="2799" b="1" kern="10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(</a:t>
            </a:r>
            <a:r>
              <a:rPr lang="zh-CN" altLang="zh-CN" sz="2799" b="1" kern="10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一</a:t>
            </a:r>
            <a:r>
              <a:rPr lang="en-US" altLang="zh-CN" sz="2799" b="1" kern="10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)</a:t>
            </a:r>
            <a:r>
              <a:rPr lang="zh-CN" altLang="zh-CN" sz="2799" b="1" kern="100">
                <a:latin typeface="Times New Roman" panose="02020603050405020304" pitchFamily="18" charset="0"/>
                <a:ea typeface="微软雅黑" panose="020b0503020204020204" pitchFamily="34" charset="-122"/>
                <a:cs typeface="Courier New" panose="02070309020205020404" pitchFamily="49" charset="0"/>
              </a:rPr>
              <a:t>词语定情</a:t>
            </a:r>
          </a:p>
          <a:p>
            <a:pPr indent="711058" algn="just">
              <a:lnSpc>
                <a:spcPct val="150000"/>
              </a:lnSpc>
            </a:pPr>
            <a:r>
              <a:rPr lang="en-US" altLang="zh-CN" sz="2799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zh-CN" altLang="en-US" sz="2799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lang="zh-CN" altLang="zh-CN" sz="2799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找出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情语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，是最准确、快捷的路径</a:t>
            </a:r>
            <a:r>
              <a:rPr lang="zh-CN" altLang="zh-CN" sz="2799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indent="711058" algn="just">
              <a:lnSpc>
                <a:spcPct val="150000"/>
              </a:lnSpc>
            </a:pP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(1)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直接标明情感的词语。如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喜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愁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悲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等字眼。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indent="711058" algn="just">
              <a:lnSpc>
                <a:spcPct val="150000"/>
              </a:lnSpc>
            </a:pP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(2)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表示情态、语气的虚词。如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但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惟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空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又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等字眼，它们委婉地提示情感。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indent="711058" algn="just">
              <a:lnSpc>
                <a:spcPct val="150000"/>
              </a:lnSpc>
            </a:pP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(3)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描摹色彩、形态的词，提示了情感内涵。如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黄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红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等暖色调词，表明心情愉悦；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白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”“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蓝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等冷色调词，暗示心情伤感。不过，这些词语所标明的乐景有时会反衬哀情。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61811"/>
      </p:ext>
    </p:extLst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3925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600" smtClean="0"/>
              <a:t>     (</a:t>
            </a:r>
            <a:r>
              <a:rPr lang="en-US" altLang="zh-CN" sz="3600"/>
              <a:t>4)</a:t>
            </a:r>
            <a:r>
              <a:rPr lang="zh-CN" altLang="en-US" sz="3600"/>
              <a:t>典故词语暗示深刻复杂的情感。</a:t>
            </a:r>
          </a:p>
          <a:p>
            <a:pPr marL="0" indent="0">
              <a:buNone/>
            </a:pPr>
            <a:r>
              <a:rPr lang="en-US" altLang="zh-CN" sz="3600" smtClean="0"/>
              <a:t>     (</a:t>
            </a:r>
            <a:r>
              <a:rPr lang="en-US" altLang="zh-CN" sz="3600"/>
              <a:t>5)</a:t>
            </a:r>
            <a:r>
              <a:rPr lang="zh-CN" altLang="en-US" sz="3600"/>
              <a:t>具有独特意义的表明时间、地点的词语。如时间词：春</a:t>
            </a:r>
            <a:r>
              <a:rPr lang="en-US" altLang="zh-CN" sz="3600"/>
              <a:t>(</a:t>
            </a:r>
            <a:r>
              <a:rPr lang="zh-CN" altLang="en-US" sz="3600"/>
              <a:t>含生机或暮春伤春</a:t>
            </a:r>
            <a:r>
              <a:rPr lang="en-US" altLang="zh-CN" sz="3600"/>
              <a:t>)</a:t>
            </a:r>
            <a:r>
              <a:rPr lang="zh-CN" altLang="en-US" sz="3600"/>
              <a:t>、秋</a:t>
            </a:r>
            <a:r>
              <a:rPr lang="en-US" altLang="zh-CN" sz="3600"/>
              <a:t>(</a:t>
            </a:r>
            <a:r>
              <a:rPr lang="zh-CN" altLang="en-US" sz="3600"/>
              <a:t>常见悲秋</a:t>
            </a:r>
            <a:r>
              <a:rPr lang="en-US" altLang="zh-CN" sz="3600"/>
              <a:t>)</a:t>
            </a:r>
            <a:r>
              <a:rPr lang="zh-CN" altLang="en-US" sz="3600"/>
              <a:t>、西风</a:t>
            </a:r>
            <a:r>
              <a:rPr lang="en-US" altLang="zh-CN" sz="3600"/>
              <a:t>(</a:t>
            </a:r>
            <a:r>
              <a:rPr lang="zh-CN" altLang="en-US" sz="3600"/>
              <a:t>秋风，含愁情</a:t>
            </a:r>
            <a:r>
              <a:rPr lang="en-US" altLang="zh-CN" sz="3600"/>
              <a:t>)</a:t>
            </a:r>
            <a:r>
              <a:rPr lang="zh-CN" altLang="en-US" sz="3600"/>
              <a:t>、节日</a:t>
            </a:r>
            <a:r>
              <a:rPr lang="en-US" altLang="zh-CN" sz="3600"/>
              <a:t>(</a:t>
            </a:r>
            <a:r>
              <a:rPr lang="zh-CN" altLang="en-US" sz="3600"/>
              <a:t>向往团圆</a:t>
            </a:r>
            <a:r>
              <a:rPr lang="en-US" altLang="zh-CN" sz="3600"/>
              <a:t>)</a:t>
            </a:r>
            <a:r>
              <a:rPr lang="zh-CN" altLang="en-US" sz="3600"/>
              <a:t>、夜</a:t>
            </a:r>
            <a:r>
              <a:rPr lang="en-US" altLang="zh-CN" sz="3600"/>
              <a:t>(</a:t>
            </a:r>
            <a:r>
              <a:rPr lang="zh-CN" altLang="en-US" sz="3600"/>
              <a:t>夜不能寐，心事重重，有所思</a:t>
            </a:r>
            <a:r>
              <a:rPr lang="en-US" altLang="zh-CN" sz="3600"/>
              <a:t>)</a:t>
            </a:r>
            <a:r>
              <a:rPr lang="zh-CN" altLang="en-US" sz="3600"/>
              <a:t>。地点词：塞外</a:t>
            </a:r>
            <a:r>
              <a:rPr lang="en-US" altLang="zh-CN" sz="3600"/>
              <a:t>(</a:t>
            </a:r>
            <a:r>
              <a:rPr lang="zh-CN" altLang="en-US" sz="3600"/>
              <a:t>建功立业或表明战争残酷，环境艰苦</a:t>
            </a:r>
            <a:r>
              <a:rPr lang="en-US" altLang="zh-CN" sz="3600"/>
              <a:t>)</a:t>
            </a:r>
            <a:r>
              <a:rPr lang="zh-CN" altLang="en-US" sz="3600"/>
              <a:t>、他乡</a:t>
            </a:r>
            <a:r>
              <a:rPr lang="en-US" altLang="zh-CN" sz="3600"/>
              <a:t>(</a:t>
            </a:r>
            <a:r>
              <a:rPr lang="zh-CN" altLang="en-US" sz="3600"/>
              <a:t>颠沛流离之苦</a:t>
            </a:r>
            <a:r>
              <a:rPr lang="en-US" altLang="zh-CN" sz="3600"/>
              <a:t>)</a:t>
            </a:r>
            <a:r>
              <a:rPr lang="zh-CN" altLang="en-US" sz="3600"/>
              <a:t>、远离京城之地</a:t>
            </a:r>
            <a:r>
              <a:rPr lang="en-US" altLang="zh-CN" sz="3600"/>
              <a:t>(</a:t>
            </a:r>
            <a:r>
              <a:rPr lang="zh-CN" altLang="en-US" sz="3600"/>
              <a:t>仕途坎坷</a:t>
            </a:r>
            <a:r>
              <a:rPr lang="en-US" altLang="zh-CN" sz="3600"/>
              <a:t>)</a:t>
            </a:r>
            <a:r>
              <a:rPr lang="zh-CN" altLang="en-US" sz="3600"/>
              <a:t>。</a:t>
            </a:r>
          </a:p>
          <a:p>
            <a:endParaRPr lang="zh-CN" altLang="en-US" sz="3600"/>
          </a:p>
        </p:txBody>
      </p:sp>
    </p:spTree>
    <p:extLst>
      <p:ext uri="{BB962C8B-B14F-4D97-AF65-F5344CB8AC3E}">
        <p14:creationId xmlns:p14="http://schemas.microsoft.com/office/powerpoint/2010/main" val="2935939745"/>
      </p:ext>
    </p:extLst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矩形 1"/>
          <p:cNvSpPr/>
          <p:nvPr/>
        </p:nvSpPr>
        <p:spPr>
          <a:xfrm>
            <a:off x="365262" y="1125277"/>
            <a:ext cx="11262011" cy="2077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799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  </a:t>
            </a:r>
            <a:r>
              <a:rPr lang="en-US" altLang="zh-CN" sz="2799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zh-CN" altLang="en-US" sz="2799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、练习：</a:t>
            </a:r>
            <a:r>
              <a:rPr lang="zh-CN" altLang="zh-CN" sz="2799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圈点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出下列诗句中能够提示诗歌情感的关键词，并据此推断出诗句所要表达的情感。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(1)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细草微风岸，危樯独夜舟。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杜甫《旅夜书怀》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)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5261" y="3129506"/>
            <a:ext cx="8918442" cy="73830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独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，表明孤独感；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夜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，有一种漂泊感。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5262" y="3870471"/>
            <a:ext cx="9810286" cy="73830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(2)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出师未捷身先死，长使英雄泪满襟。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杜甫《蜀相》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)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5262" y="4618700"/>
            <a:ext cx="4492498" cy="7384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泪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，内心伤感。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2435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矩形 6"/>
          <p:cNvSpPr/>
          <p:nvPr/>
        </p:nvSpPr>
        <p:spPr>
          <a:xfrm>
            <a:off x="336694" y="926828"/>
            <a:ext cx="11008221" cy="73830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(3)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山明水净夜来霜，数树深红入浅黄。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[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刘禹锡《秋词二首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其二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》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]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6693" y="1638539"/>
            <a:ext cx="11229487" cy="20634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形态词：明、净。色彩词：深红、浅黄。时间词：夜、霜。合起来说，虽说已处深秋，深夜霜降，但山水明净，景色鲜艳绚丽，表现出诗人并不悲秋，反而有爱秋之意。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6694" y="3631643"/>
            <a:ext cx="10791315" cy="73830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(4)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芳树无人花自落，春山一路鸟空啼。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李华《春行即兴》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)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6693" y="4349832"/>
            <a:ext cx="11229487" cy="137336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副词：自、空。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芳树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春山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虽好，却无人欣赏，诗人用宜人的景色衬托自己寂寞凄凉的心情。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7841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3600"/>
              <a:t>(</a:t>
            </a:r>
            <a:r>
              <a:rPr lang="zh-CN" altLang="en-US" sz="3600"/>
              <a:t>二</a:t>
            </a:r>
            <a:r>
              <a:rPr lang="en-US" altLang="zh-CN" sz="3600"/>
              <a:t>)</a:t>
            </a:r>
            <a:r>
              <a:rPr lang="zh-CN" altLang="en-US" sz="3600"/>
              <a:t>借景察</a:t>
            </a:r>
            <a:r>
              <a:rPr lang="zh-CN" altLang="en-US" sz="3600" smtClean="0"/>
              <a:t>情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     </a:t>
            </a:r>
            <a:r>
              <a:rPr lang="zh-CN" altLang="en-US" sz="3200" smtClean="0"/>
              <a:t>古诗</a:t>
            </a:r>
            <a:r>
              <a:rPr lang="zh-CN" altLang="en-US" sz="3200"/>
              <a:t>内容，无非“情”“景”二字，借景抒情是古诗抒发感情最主要的方式，因此，借景察情应当成为学习古诗的基本功</a:t>
            </a:r>
            <a:r>
              <a:rPr lang="zh-CN" altLang="en-US" sz="3200" smtClean="0"/>
              <a:t>。</a:t>
            </a:r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570296943"/>
      </p:ext>
    </p:extLst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3200" smtClean="0"/>
              <a:t>1</a:t>
            </a:r>
            <a:r>
              <a:rPr lang="zh-CN" altLang="en-US" sz="3200" smtClean="0"/>
              <a:t>、如何</a:t>
            </a:r>
            <a:r>
              <a:rPr lang="zh-CN" altLang="en-US" sz="3200"/>
              <a:t>把握景物中的情感</a:t>
            </a:r>
            <a:r>
              <a:rPr lang="zh-CN" altLang="en-US" sz="3200" smtClean="0"/>
              <a:t>？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653" y="1349107"/>
            <a:ext cx="10945969" cy="4351338"/>
          </a:xfrm>
        </p:spPr>
        <p:txBody>
          <a:bodyPr/>
          <a:lstStyle/>
          <a:p>
            <a:r>
              <a:rPr lang="en-US" altLang="zh-CN" sz="3200" smtClean="0"/>
              <a:t>    (</a:t>
            </a:r>
            <a:r>
              <a:rPr lang="en-US" altLang="zh-CN" sz="3200"/>
              <a:t>1)</a:t>
            </a:r>
            <a:r>
              <a:rPr lang="zh-CN" altLang="en-US" sz="3200"/>
              <a:t>揣摩所写景物的特点，包括声、色、形、态、味、虚、实、时令方面的特点，进而把握情感，这里尤其需要注意从景物色彩中揣摩情感。景物是情感的载体，我们可以通过景物的冷暖色调或时令色彩等来揣摩作者的情感情绪。明丽绚烂的景色一般表现愉悦的心态，而色彩暗淡的景物往往表达伤感之意。当然也有特例，以哀景写乐情或以乐景写哀情，这种情况要结合诗作具体内容另当别论。景物也有时令色彩。一般而言，早春之景给人的感觉是充满生机，富有生命力，抒发喜悦、向上的情感；暮春之景衰败纷乱，抒发感伤、惋惜之情；秋冬之景给人凄凉、萧瑟之感，抒发悲哀、惆怅之情。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794593"/>
      </p:ext>
    </p:extLst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矩形 9"/>
          <p:cNvSpPr/>
          <p:nvPr/>
        </p:nvSpPr>
        <p:spPr>
          <a:xfrm>
            <a:off x="370048" y="1166842"/>
            <a:ext cx="1122107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1058" algn="just">
              <a:lnSpc>
                <a:spcPct val="150000"/>
              </a:lnSpc>
            </a:pP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(2)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善于抓住景物前面的修饰语及后面的动词、形容词，把握景物特征，从中捕捉背后的情感。</a:t>
            </a:r>
            <a:endParaRPr lang="zh-CN" altLang="zh-CN" sz="120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indent="711058" algn="just">
              <a:lnSpc>
                <a:spcPct val="150000"/>
              </a:lnSpc>
            </a:pP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(3)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把握景与情之间的内在关系。景与情的内在关系有两种：一是情与景之间的一致性</a:t>
            </a: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相似性</a:t>
            </a: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，即通常所说的</a:t>
            </a:r>
            <a:r>
              <a:rPr lang="en-US" altLang="zh-CN" sz="3200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哀景哀情，乐景乐情</a:t>
            </a:r>
            <a:r>
              <a:rPr lang="en-US" altLang="zh-CN" sz="3200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；二是情与景之间的相反性，即通常所说的</a:t>
            </a:r>
            <a:r>
              <a:rPr lang="en-US" altLang="zh-CN" sz="3200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乐景哀情，哀景乐情</a:t>
            </a:r>
            <a:r>
              <a:rPr lang="en-US" altLang="zh-CN" sz="3200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120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31424"/>
      </p:ext>
    </p:extLst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矩形 2"/>
          <p:cNvSpPr/>
          <p:nvPr/>
        </p:nvSpPr>
        <p:spPr>
          <a:xfrm>
            <a:off x="408685" y="693329"/>
            <a:ext cx="11374631" cy="1384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799" b="1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zh-CN" altLang="en-US" sz="2799" b="1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、练习：</a:t>
            </a:r>
            <a:r>
              <a:rPr lang="zh-CN" altLang="zh-CN" sz="2799" b="1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请</a:t>
            </a:r>
            <a:r>
              <a:rPr lang="zh-CN" altLang="zh-CN" sz="2799" b="1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品读下列写景诗句，说出它们所要表达的情感。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(1)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风急天高猿啸哀，渚清沙白鸟飞回。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杜甫《登高》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)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8685" y="2061165"/>
            <a:ext cx="11374631" cy="738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凄清、伤感　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8685" y="2782000"/>
            <a:ext cx="11374631" cy="738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(2)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杨柳岸，晓风残月。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柳永《雨霖铃》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)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8685" y="3515702"/>
            <a:ext cx="11374631" cy="738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与恋人分别后的孤独、痛苦　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08685" y="4288905"/>
            <a:ext cx="11374631" cy="738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(3)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乱石穿空，惊涛拍岸，卷起千堆雪。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苏轼《念奴娇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·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赤壁怀古》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)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8685" y="5022607"/>
            <a:ext cx="11374631" cy="738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游览古战场，见到壮丽景象所产生的豪迈之情　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4538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矩形 2"/>
          <p:cNvSpPr/>
          <p:nvPr/>
        </p:nvSpPr>
        <p:spPr>
          <a:xfrm>
            <a:off x="408685" y="1701208"/>
            <a:ext cx="11374631" cy="738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</a:rPr>
              <a:t>(4)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梧桐更兼细雨，到黄昏、点点滴滴。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李清照《声声慢》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</a:rPr>
              <a:t>)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8685" y="2421121"/>
            <a:ext cx="11374631" cy="738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寒夜难熬，国破家亡后的哀愁　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8685" y="3141956"/>
            <a:ext cx="11374631" cy="738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</a:rPr>
              <a:t>(5)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浮天水送无穷树，带雨云埋一半山。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辛弃疾《鹧鸪天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</a:rPr>
              <a:t>·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送人》</a:t>
            </a:r>
            <a:r>
              <a:rPr lang="en-US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</a:rPr>
              <a:t>)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8685" y="3875659"/>
            <a:ext cx="11374631" cy="738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送别朋友，依依不舍；朋友远行，心情郁闷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0864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3600"/>
              <a:t>(</a:t>
            </a:r>
            <a:r>
              <a:rPr lang="zh-CN" altLang="en-US" sz="3600"/>
              <a:t>三</a:t>
            </a:r>
            <a:r>
              <a:rPr lang="en-US" altLang="zh-CN" sz="3600"/>
              <a:t>)</a:t>
            </a:r>
            <a:r>
              <a:rPr lang="zh-CN" altLang="en-US" sz="3600"/>
              <a:t>典故挖</a:t>
            </a:r>
            <a:r>
              <a:rPr lang="zh-CN" altLang="en-US" sz="3600" smtClean="0"/>
              <a:t>情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CN" sz="3200" smtClean="0"/>
              <a:t>1</a:t>
            </a:r>
            <a:r>
              <a:rPr lang="zh-CN" altLang="en-US" sz="3200" smtClean="0"/>
              <a:t>、方法</a:t>
            </a:r>
            <a:endParaRPr lang="en-US" altLang="zh-CN" sz="3200" smtClean="0"/>
          </a:p>
          <a:p>
            <a:r>
              <a:rPr lang="en-US" altLang="zh-CN" smtClean="0"/>
              <a:t>(</a:t>
            </a:r>
            <a:r>
              <a:rPr lang="en-US" altLang="zh-CN"/>
              <a:t>1)</a:t>
            </a:r>
            <a:r>
              <a:rPr lang="zh-CN" altLang="en-US"/>
              <a:t>积累古诗常用典故的出处与含义</a:t>
            </a:r>
          </a:p>
          <a:p>
            <a:r>
              <a:rPr lang="zh-CN" altLang="en-US" smtClean="0"/>
              <a:t>    例如</a:t>
            </a:r>
            <a:r>
              <a:rPr lang="zh-CN" altLang="en-US"/>
              <a:t>“楼兰”。楼兰国王贪财，多次杀害前往西域的汉使。后傅介子出使西域，计斩楼兰王。故“楼兰”常代指边境之敌。如王昌龄</a:t>
            </a:r>
            <a:r>
              <a:rPr lang="en-US" altLang="zh-CN"/>
              <a:t>《</a:t>
            </a:r>
            <a:r>
              <a:rPr lang="zh-CN" altLang="en-US"/>
              <a:t>从军行</a:t>
            </a:r>
            <a:r>
              <a:rPr lang="en-US" altLang="zh-CN"/>
              <a:t>》</a:t>
            </a:r>
            <a:r>
              <a:rPr lang="zh-CN" altLang="en-US"/>
              <a:t>：“黄沙百战穿金甲，不破楼兰终不还。”又如李白</a:t>
            </a:r>
            <a:r>
              <a:rPr lang="en-US" altLang="zh-CN"/>
              <a:t>《</a:t>
            </a:r>
            <a:r>
              <a:rPr lang="zh-CN" altLang="en-US"/>
              <a:t>塞下曲</a:t>
            </a:r>
            <a:r>
              <a:rPr lang="en-US" altLang="zh-CN"/>
              <a:t>》</a:t>
            </a:r>
            <a:r>
              <a:rPr lang="zh-CN" altLang="en-US"/>
              <a:t>：“愿将腰下剑，直为斩楼兰。”</a:t>
            </a:r>
          </a:p>
          <a:p>
            <a:r>
              <a:rPr lang="en-US" altLang="zh-CN" smtClean="0"/>
              <a:t>(2)</a:t>
            </a:r>
            <a:r>
              <a:rPr lang="zh-CN" altLang="en-US"/>
              <a:t>把握典中情要注意“两面”情感</a:t>
            </a:r>
          </a:p>
          <a:p>
            <a:r>
              <a:rPr lang="zh-CN" altLang="en-US" smtClean="0"/>
              <a:t>   “一面”</a:t>
            </a:r>
            <a:r>
              <a:rPr lang="zh-CN" altLang="en-US"/>
              <a:t>是作者对典故中的人、事的情感态度，“一面”是作者借此要表达的对现实、对自己的情感态度。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63224"/>
      </p:ext>
    </p:extLst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2" name="矩形 11"/>
          <p:cNvSpPr/>
          <p:nvPr/>
        </p:nvSpPr>
        <p:spPr>
          <a:xfrm>
            <a:off x="255179" y="711735"/>
            <a:ext cx="11561089" cy="6553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1058" algn="just">
              <a:lnSpc>
                <a:spcPct val="150000"/>
              </a:lnSpc>
            </a:pPr>
            <a:r>
              <a:rPr lang="en-US" altLang="zh-CN" sz="2799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(3)</a:t>
            </a: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把握古人用典的方式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indent="711058" algn="just">
              <a:lnSpc>
                <a:spcPct val="150000"/>
              </a:lnSpc>
            </a:pPr>
            <a:r>
              <a:rPr lang="en-US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①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明用典与暗用典。明用典，即在诗中一眼就能看出来，如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凭谁问：廉颇老矣，尚能饭否？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掌握暗用典，要靠自己的积累。如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起舞闻鸡酒未醒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，如果有积累，就知道这里是暗用典，它用了祖逖闻鸡起舞的典故。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indent="711058" algn="just">
              <a:lnSpc>
                <a:spcPct val="150000"/>
              </a:lnSpc>
            </a:pPr>
            <a:r>
              <a:rPr lang="en-US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②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正用典与反用典。作者使用典故，有时与典故意一致，叫正用典，如辛弃疾使用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廉颇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的典故；有时与典故意相反，叫反用典，如王维《山居秋暝》尾联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随意春芳歇，王孙自可留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，原典故是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王孙兮归来，山中兮不可以久留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，这里反其意而用之，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王孙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偏要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留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下来。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307068"/>
      </p:ext>
    </p:extLst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矩形 9"/>
          <p:cNvSpPr/>
          <p:nvPr/>
        </p:nvSpPr>
        <p:spPr>
          <a:xfrm>
            <a:off x="336693" y="288079"/>
            <a:ext cx="11446622" cy="7384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799" b="1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zh-CN" altLang="en-US" sz="2799" b="1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、练习：</a:t>
            </a:r>
            <a:r>
              <a:rPr lang="zh-CN" altLang="zh-CN" sz="2799" b="1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阅读</a:t>
            </a:r>
            <a:r>
              <a:rPr lang="zh-CN" altLang="zh-CN" sz="2799" b="1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下面这首唐诗，完成后面题目。</a:t>
            </a:r>
            <a:endParaRPr lang="zh-CN" altLang="zh-CN" sz="1050" b="1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zh-CN" sz="3599" kern="100">
                <a:solidFill>
                  <a:srgbClr val="C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金陵望汉江</a:t>
            </a:r>
          </a:p>
          <a:p>
            <a:pPr algn="ctr">
              <a:lnSpc>
                <a:spcPct val="150000"/>
              </a:lnSpc>
            </a:pP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李　白</a:t>
            </a:r>
            <a:endParaRPr lang="zh-CN" altLang="zh-CN" sz="2799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汉江回万里，派作九龙盘</a:t>
            </a:r>
            <a:r>
              <a:rPr lang="en-US" altLang="zh-CN" sz="2799" kern="100" baseline="30000">
                <a:latin typeface="宋体" panose="02010600030101010101" pitchFamily="2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①</a:t>
            </a:r>
            <a:r>
              <a:rPr lang="zh-CN" altLang="zh-CN" sz="2799" kern="100" smtClean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。横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溃豁中国，崔嵬飞迅湍</a:t>
            </a:r>
            <a:r>
              <a:rPr lang="zh-CN" altLang="zh-CN" sz="2799" kern="100" smtClean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。六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帝沦亡后</a:t>
            </a:r>
            <a:r>
              <a:rPr lang="en-US" altLang="zh-CN" sz="2799" kern="100" baseline="30000">
                <a:latin typeface="宋体" panose="02010600030101010101" pitchFamily="2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②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，三吴不足观</a:t>
            </a:r>
            <a:r>
              <a:rPr lang="en-US" altLang="zh-CN" sz="2799" kern="100" baseline="30000">
                <a:latin typeface="宋体" panose="02010600030101010101" pitchFamily="2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③</a:t>
            </a:r>
            <a:r>
              <a:rPr lang="zh-CN" altLang="zh-CN" sz="2799" kern="100" smtClean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。我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君混区宇，垂拱众流安</a:t>
            </a:r>
            <a:r>
              <a:rPr lang="zh-CN" altLang="zh-CN" sz="2799" kern="100" smtClean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。今日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任公子，沧浪罢钓竿</a:t>
            </a:r>
            <a:r>
              <a:rPr lang="en-US" altLang="zh-CN" sz="2799" kern="100" baseline="30000">
                <a:latin typeface="宋体" panose="02010600030101010101" pitchFamily="2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④</a:t>
            </a:r>
            <a:r>
              <a:rPr lang="zh-CN" altLang="zh-CN" sz="2799" kern="100" smtClean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799" kern="100" smtClean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799" kern="100">
                <a:latin typeface="宋体" panose="02010600030101010101" pitchFamily="2" charset="-122"/>
                <a:cs typeface="Courier New" panose="02070309020205020404" pitchFamily="49" charset="0"/>
              </a:rPr>
              <a:t>[</a:t>
            </a:r>
            <a:r>
              <a:rPr lang="zh-CN" altLang="en-US" sz="2799" kern="100">
                <a:latin typeface="宋体" panose="02010600030101010101" pitchFamily="2" charset="-122"/>
                <a:cs typeface="Courier New" panose="02070309020205020404" pitchFamily="49" charset="0"/>
              </a:rPr>
              <a:t>注</a:t>
            </a:r>
            <a:r>
              <a:rPr lang="en-US" altLang="zh-CN" sz="2799" kern="100">
                <a:latin typeface="宋体" panose="02010600030101010101" pitchFamily="2" charset="-122"/>
                <a:cs typeface="Courier New" panose="02070309020205020404" pitchFamily="49" charset="0"/>
              </a:rPr>
              <a:t>]</a:t>
            </a:r>
            <a:r>
              <a:rPr lang="zh-CN" altLang="en-US" sz="2799" kern="100">
                <a:latin typeface="宋体" panose="02010600030101010101" pitchFamily="2" charset="-122"/>
                <a:cs typeface="Courier New" panose="02070309020205020404" pitchFamily="49" charset="0"/>
              </a:rPr>
              <a:t>　①派：河的支流。长江在湖北、江西一带，分为很多支流。</a:t>
            </a:r>
          </a:p>
          <a:p>
            <a:pPr>
              <a:lnSpc>
                <a:spcPct val="150000"/>
              </a:lnSpc>
            </a:pPr>
            <a:r>
              <a:rPr lang="zh-CN" altLang="en-US" sz="2799" kern="100">
                <a:latin typeface="宋体" panose="02010600030101010101" pitchFamily="2" charset="-122"/>
                <a:cs typeface="Courier New" panose="02070309020205020404" pitchFamily="49" charset="0"/>
              </a:rPr>
              <a:t>②六帝：代指六朝。③三吴：古吴地后分为三，即吴兴、吴郡、会稽。④这两句的意思是，当今任公子已无须垂钓了，因为江海中已无巨鱼，比喻已无危害国家的巨寇。任公子是</a:t>
            </a:r>
            <a:r>
              <a:rPr lang="en-US" altLang="zh-CN" sz="2799" kern="100">
                <a:latin typeface="宋体" panose="02010600030101010101" pitchFamily="2" charset="-122"/>
                <a:cs typeface="Courier New" panose="02070309020205020404" pitchFamily="49" charset="0"/>
              </a:rPr>
              <a:t>《</a:t>
            </a:r>
            <a:r>
              <a:rPr lang="zh-CN" altLang="en-US" sz="2799" kern="100">
                <a:latin typeface="宋体" panose="02010600030101010101" pitchFamily="2" charset="-122"/>
                <a:cs typeface="Courier New" panose="02070309020205020404" pitchFamily="49" charset="0"/>
              </a:rPr>
              <a:t>庄子</a:t>
            </a:r>
            <a:r>
              <a:rPr lang="en-US" altLang="zh-CN" sz="2799" kern="100">
                <a:latin typeface="宋体" panose="02010600030101010101" pitchFamily="2" charset="-122"/>
                <a:cs typeface="Courier New" panose="02070309020205020404" pitchFamily="49" charset="0"/>
              </a:rPr>
              <a:t>》</a:t>
            </a:r>
            <a:r>
              <a:rPr lang="zh-CN" altLang="en-US" sz="2799" kern="100">
                <a:latin typeface="宋体" panose="02010600030101010101" pitchFamily="2" charset="-122"/>
                <a:cs typeface="Courier New" panose="02070309020205020404" pitchFamily="49" charset="0"/>
              </a:rPr>
              <a:t>中的传说人物，他用很大的钓钩和极多的食饵钓起一条巨大的鱼。</a:t>
            </a:r>
          </a:p>
          <a:p>
            <a:pPr>
              <a:lnSpc>
                <a:spcPct val="150000"/>
              </a:lnSpc>
            </a:pPr>
            <a:endParaRPr lang="zh-CN" altLang="zh-CN" sz="2799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176290"/>
      </p:ext>
    </p:extLst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矩形 9"/>
          <p:cNvSpPr/>
          <p:nvPr/>
        </p:nvSpPr>
        <p:spPr>
          <a:xfrm>
            <a:off x="437253" y="1513375"/>
            <a:ext cx="11109978" cy="738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诗中运用任公子的典故，表达了什么样的思想感情？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7253" y="2206267"/>
            <a:ext cx="10783236" cy="2734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作者以水无巨鱼代指世无巨寇，表达了对大唐一统天下、开创盛世伟绩的歌颂；</a:t>
            </a:r>
            <a:endParaRPr lang="en-US" altLang="zh-CN" sz="2799" kern="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作者自比任公子，觉得在太平盛世没有机会施展才干，不免流露出一丝英雄无用武之地的失落。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0277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3600"/>
              <a:t>(</a:t>
            </a:r>
            <a:r>
              <a:rPr lang="zh-CN" altLang="en-US" sz="3600"/>
              <a:t>四</a:t>
            </a:r>
            <a:r>
              <a:rPr lang="en-US" altLang="zh-CN" sz="3600"/>
              <a:t>)</a:t>
            </a:r>
            <a:r>
              <a:rPr lang="zh-CN" altLang="en-US" sz="3600"/>
              <a:t>时空显</a:t>
            </a:r>
            <a:r>
              <a:rPr lang="zh-CN" altLang="en-US" sz="3600" smtClean="0"/>
              <a:t>情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3200" smtClean="0"/>
              <a:t>    诗人</a:t>
            </a:r>
            <a:r>
              <a:rPr lang="zh-CN" altLang="en-US" sz="3200"/>
              <a:t>的情感在诗中有时不是一成不变的，而是富于变化的，那么如何把握这变化的情感呢？其中一个重要路径就是抓住诗中时间、空间的变化</a:t>
            </a:r>
            <a:r>
              <a:rPr lang="zh-CN" altLang="en-US" sz="3200" smtClean="0"/>
              <a:t>。</a:t>
            </a:r>
            <a:endParaRPr lang="en-US" altLang="zh-CN" sz="3200" smtClean="0"/>
          </a:p>
          <a:p>
            <a:r>
              <a:rPr lang="en-US" altLang="zh-CN" sz="3200"/>
              <a:t> </a:t>
            </a:r>
            <a:r>
              <a:rPr lang="en-US" altLang="zh-CN" sz="3200" smtClean="0"/>
              <a:t>   </a:t>
            </a:r>
            <a:r>
              <a:rPr lang="zh-CN" altLang="en-US" sz="3200" smtClean="0"/>
              <a:t>从</a:t>
            </a:r>
            <a:r>
              <a:rPr lang="zh-CN" altLang="en-US" sz="3200"/>
              <a:t>时间上讲，诗人的情感有过去、现在与将来的变化，如回忆过去，感到很美好；驻足现在，觉得伤感；展望将来</a:t>
            </a:r>
            <a:r>
              <a:rPr lang="en-US" altLang="zh-CN" sz="3200"/>
              <a:t>(</a:t>
            </a:r>
            <a:r>
              <a:rPr lang="zh-CN" altLang="en-US" sz="3200"/>
              <a:t>想象</a:t>
            </a:r>
            <a:r>
              <a:rPr lang="en-US" altLang="zh-CN" sz="3200"/>
              <a:t>)</a:t>
            </a:r>
            <a:r>
              <a:rPr lang="zh-CN" altLang="en-US" sz="3200"/>
              <a:t>，充满期待。读诗要善于分出不同的时间段，找出不同的情感。像离别诗，一般分成离别时和离别后两个时间段写，离别时自然要痛苦，离别后自然是思念之苦、重逢之盼</a:t>
            </a:r>
            <a:r>
              <a:rPr lang="zh-CN" altLang="en-US" sz="3200" smtClean="0"/>
              <a:t>。</a:t>
            </a:r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2560441182"/>
      </p:ext>
    </p:extLst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smtClean="0"/>
              <a:t>      从</a:t>
            </a:r>
            <a:r>
              <a:rPr lang="zh-CN" altLang="en-US" sz="3200"/>
              <a:t>空间上讲，空间不同，情感也就不同。如在家中，家人聚在一起，很温暖；在外乡的路上，颇有羁旅之苦。空间不同，实际上是不同景物对象的转换，读诗时如能抓住不同空间里不同的描写对象，自然就能捕捉到因空间变化而产生的情感变化。</a:t>
            </a:r>
          </a:p>
          <a:p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077544223"/>
      </p:ext>
    </p:extLst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矩形 9"/>
          <p:cNvSpPr/>
          <p:nvPr/>
        </p:nvSpPr>
        <p:spPr>
          <a:xfrm>
            <a:off x="336693" y="294538"/>
            <a:ext cx="11446622" cy="6148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zh-CN" altLang="zh-CN" sz="2799" b="1" kern="100">
              <a:latin typeface="Times New Roman" panose="02020603050405020304" pitchFamily="18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799" b="1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阅读下面这首唐诗，完成后面题目。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zh-CN" sz="3599" kern="100">
                <a:solidFill>
                  <a:srgbClr val="C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湖南正初招李郢秀才</a:t>
            </a:r>
            <a:r>
              <a:rPr lang="en-US" altLang="zh-CN" sz="3599" kern="100" baseline="30000">
                <a:solidFill>
                  <a:srgbClr val="C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Courier New" panose="02070309020205020404" pitchFamily="49" charset="0"/>
              </a:rPr>
              <a:t>[</a:t>
            </a:r>
            <a:r>
              <a:rPr lang="zh-CN" altLang="zh-CN" sz="3599" kern="100" baseline="30000">
                <a:solidFill>
                  <a:srgbClr val="C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注</a:t>
            </a:r>
            <a:r>
              <a:rPr lang="en-US" altLang="zh-CN" sz="3599" kern="100" baseline="30000">
                <a:solidFill>
                  <a:srgbClr val="C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Courier New" panose="02070309020205020404" pitchFamily="49" charset="0"/>
              </a:rPr>
              <a:t>]</a:t>
            </a:r>
            <a:endParaRPr lang="zh-CN" altLang="zh-CN" sz="3599" kern="1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杜　牧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行乐及时时已晚，对酒当歌歌不成。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千里暮山重叠翠，一溪寒水浅深清。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高人以饮为忙事，浮世除诗尽强名。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看著白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    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芽欲吐，雪舟相访胜闲行。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799" b="1" kern="100" spc="-100">
                <a:solidFill>
                  <a:srgbClr val="C0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[</a:t>
            </a:r>
            <a:r>
              <a:rPr lang="zh-CN" altLang="zh-CN" sz="2799" b="1" kern="100" spc="-100">
                <a:solidFill>
                  <a:srgbClr val="C0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注</a:t>
            </a:r>
            <a:r>
              <a:rPr lang="en-US" altLang="zh-CN" sz="2799" b="1" kern="100" spc="-100">
                <a:solidFill>
                  <a:srgbClr val="C00000"/>
                </a:solidFill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]</a:t>
            </a:r>
            <a:r>
              <a:rPr lang="zh-CN" altLang="zh-CN" sz="2799" kern="100" spc="-10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　</a:t>
            </a:r>
            <a:r>
              <a:rPr lang="zh-CN" altLang="zh-CN" sz="2799" kern="10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正初：冬至日。此诗写于杜牧自请外放湖州任上，诗人时年</a:t>
            </a:r>
            <a:r>
              <a:rPr lang="en-US" altLang="zh-CN" sz="2799" kern="100">
                <a:latin typeface="Times New Roman" panose="02020603050405020304" pitchFamily="18" charset="0"/>
                <a:ea typeface="仿宋_GB2312" panose="02010609030101010101" pitchFamily="49" charset="-122"/>
              </a:rPr>
              <a:t>48</a:t>
            </a:r>
            <a:r>
              <a:rPr lang="zh-CN" altLang="zh-CN" sz="2799" kern="100">
                <a:latin typeface="Times New Roman" panose="02020603050405020304" pitchFamily="18" charset="0"/>
                <a:ea typeface="仿宋_GB2312" panose="02010609030101010101" pitchFamily="49" charset="-122"/>
                <a:cs typeface="Times New Roman" panose="02020603050405020304" pitchFamily="18" charset="0"/>
              </a:rPr>
              <a:t>岁。</a:t>
            </a:r>
            <a:endParaRPr lang="zh-CN" altLang="zh-CN" sz="1050" kern="100" spc="-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12290" name="Picture 2" descr="频K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05740" y="5207397"/>
            <a:ext cx="309352" cy="309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7836600"/>
      </p:ext>
    </p:extLst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矩形 9"/>
          <p:cNvSpPr/>
          <p:nvPr/>
        </p:nvSpPr>
        <p:spPr>
          <a:xfrm>
            <a:off x="521965" y="979268"/>
            <a:ext cx="11109978" cy="738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这首诗表现了诗人怎样的情感变化？请结合全诗简要分析。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1966" y="1705020"/>
            <a:ext cx="10891068" cy="39461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先是抑郁愁苦。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时已晚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歌不成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，流露出人生短暂、功业难成的抑郁之思；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千里暮山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一溪寒水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，营造出凄凉清冷的意境，表达了落寞抑郁之情。</a:t>
            </a:r>
            <a:endParaRPr lang="en-US" altLang="zh-CN" sz="2799" kern="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799" kern="100" smtClean="0">
                <a:latin typeface="宋体" panose="02010600030101010101" pitchFamily="2" charset="-122"/>
                <a:cs typeface="Times New Roman" panose="02020603050405020304" pitchFamily="18" charset="0"/>
              </a:rPr>
              <a:t>      ②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然后转为旷达乐观。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饮为高人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浮世强名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，否定功名，在饮酒、赋诗中自得其乐；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雪舟相访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，诗人沉浸于与朋友相聚的设想中，喜不自胜。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5346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/>
              <a:t>四、情感答题规范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3200"/>
              <a:t>1.</a:t>
            </a:r>
            <a:r>
              <a:rPr lang="zh-CN" altLang="en-US" sz="3200"/>
              <a:t>精准审题</a:t>
            </a:r>
          </a:p>
          <a:p>
            <a:r>
              <a:rPr lang="en-US" altLang="zh-CN" sz="3200" smtClean="0"/>
              <a:t>     (</a:t>
            </a:r>
            <a:r>
              <a:rPr lang="en-US" altLang="zh-CN" sz="3200"/>
              <a:t>1)</a:t>
            </a:r>
            <a:r>
              <a:rPr lang="zh-CN" altLang="en-US" sz="3200"/>
              <a:t>审答题范围：局部</a:t>
            </a:r>
            <a:r>
              <a:rPr lang="en-US" altLang="zh-CN" sz="3200"/>
              <a:t>(</a:t>
            </a:r>
            <a:r>
              <a:rPr lang="zh-CN" altLang="en-US" sz="3200"/>
              <a:t>一句、一联、一片等</a:t>
            </a:r>
            <a:r>
              <a:rPr lang="en-US" altLang="zh-CN" sz="3200"/>
              <a:t>)/</a:t>
            </a:r>
            <a:r>
              <a:rPr lang="zh-CN" altLang="en-US" sz="3200"/>
              <a:t>整体。内容越多，层级越大，情感要点越多。</a:t>
            </a:r>
          </a:p>
          <a:p>
            <a:r>
              <a:rPr lang="en-US" altLang="zh-CN" sz="3200" smtClean="0"/>
              <a:t>     (</a:t>
            </a:r>
            <a:r>
              <a:rPr lang="en-US" altLang="zh-CN" sz="3200"/>
              <a:t>2)</a:t>
            </a:r>
            <a:r>
              <a:rPr lang="zh-CN" altLang="en-US" sz="3200"/>
              <a:t>审答题要求：概括</a:t>
            </a:r>
            <a:r>
              <a:rPr lang="en-US" altLang="zh-CN" sz="3200"/>
              <a:t>/</a:t>
            </a:r>
            <a:r>
              <a:rPr lang="zh-CN" altLang="en-US" sz="3200"/>
              <a:t>分析。情感概括题可直接使用上题形式。情感分析题表述有两种模式：</a:t>
            </a:r>
          </a:p>
          <a:p>
            <a:r>
              <a:rPr lang="zh-CN" altLang="en-US" sz="3200" smtClean="0"/>
              <a:t>    ①</a:t>
            </a:r>
            <a:r>
              <a:rPr lang="zh-CN" altLang="en-US" sz="3200"/>
              <a:t>分析＋概括：先分析具体诗句，后概括出情感内涵。</a:t>
            </a:r>
          </a:p>
          <a:p>
            <a:r>
              <a:rPr lang="zh-CN" altLang="en-US" sz="3200" smtClean="0"/>
              <a:t>    ②</a:t>
            </a:r>
            <a:r>
              <a:rPr lang="zh-CN" altLang="en-US" sz="3200"/>
              <a:t>概括＋分析：先概括出情感内涵，后分析具体诗句。</a:t>
            </a:r>
          </a:p>
          <a:p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1709400" y="11430000"/>
            <a:ext cx="0" cy="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2374137"/>
      </p:ext>
    </p:extLst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9" name="矩形 8"/>
          <p:cNvSpPr/>
          <p:nvPr/>
        </p:nvSpPr>
        <p:spPr>
          <a:xfrm>
            <a:off x="334768" y="678258"/>
            <a:ext cx="1127115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1058" algn="just">
              <a:lnSpc>
                <a:spcPct val="150000"/>
              </a:lnSpc>
            </a:pPr>
            <a:r>
              <a:rPr lang="en-US" altLang="zh-CN" sz="3200" kern="10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2</a:t>
            </a: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.</a:t>
            </a:r>
            <a:r>
              <a:rPr lang="zh-CN" altLang="zh-CN" sz="3200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规范答题</a:t>
            </a:r>
            <a:endParaRPr lang="zh-CN" altLang="zh-CN" sz="120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indent="711058" algn="just">
              <a:lnSpc>
                <a:spcPct val="150000"/>
              </a:lnSpc>
            </a:pP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(1)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从内容上规范：分层作答，分对象作答</a:t>
            </a: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对自己</a:t>
            </a: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/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友人，国家</a:t>
            </a: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/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人生，历史</a:t>
            </a: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/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朝廷，故乡</a:t>
            </a: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/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自然等</a:t>
            </a: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120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indent="711058" algn="just">
              <a:lnSpc>
                <a:spcPct val="150000"/>
              </a:lnSpc>
            </a:pP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(2)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从表达上规范：使用情感术语。格式规范：情感＝对</a:t>
            </a: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情感对象</a:t>
            </a: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＋情由</a:t>
            </a:r>
            <a:r>
              <a:rPr lang="en-US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/</a:t>
            </a:r>
            <a:r>
              <a:rPr lang="zh-CN" altLang="zh-CN" sz="3200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情境＋感情基调。</a:t>
            </a:r>
            <a:endParaRPr lang="zh-CN" altLang="zh-CN" sz="120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905453"/>
      </p:ext>
    </p:extLst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8" name="矩形 7"/>
          <p:cNvSpPr/>
          <p:nvPr/>
        </p:nvSpPr>
        <p:spPr>
          <a:xfrm>
            <a:off x="418207" y="765683"/>
            <a:ext cx="11271157" cy="5264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1058" algn="just">
              <a:lnSpc>
                <a:spcPct val="150000"/>
              </a:lnSpc>
            </a:pP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(3)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从类型上规范：</a:t>
            </a:r>
            <a:r>
              <a:rPr lang="en-US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①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情感变化型，表述为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“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由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……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情感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”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到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“……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情感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”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再到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“……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情感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”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。</a:t>
            </a:r>
            <a:r>
              <a:rPr lang="en-US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②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情感矛盾统一型，表述为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“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既有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……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情感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，又有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……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情感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，这两种看似矛盾的情感有机地统一于诗人的情绪中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”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，或者为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“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诗人表面上看是在表达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……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情感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，实质上是在表达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……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(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情感</a:t>
            </a:r>
            <a:r>
              <a:rPr lang="en-US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Courier New" panose="02070309020205020404" pitchFamily="49" charset="0"/>
              </a:rPr>
              <a:t>)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”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。</a:t>
            </a:r>
            <a:r>
              <a:rPr lang="en-US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③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情感丰富型。应多角度、多层面地挖掘情感，做到多点答题。</a:t>
            </a:r>
            <a:r>
              <a:rPr lang="en-US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④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情感单一型。这类题题干上已经给出某种情感，只要求分析。对于这种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“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逆向分析</a:t>
            </a:r>
            <a:r>
              <a:rPr lang="en-US" altLang="zh-CN" sz="2799" kern="100">
                <a:latin typeface="宋体" panose="02010600030101010101" pitchFamily="2" charset="-122"/>
                <a:ea typeface="方正中等线简体" panose="03000509000000000000" pitchFamily="65" charset="-122"/>
                <a:cs typeface="Courier New" panose="02070309020205020404" pitchFamily="49" charset="0"/>
              </a:rPr>
              <a:t>”</a:t>
            </a:r>
            <a:r>
              <a:rPr lang="zh-CN" altLang="zh-CN" sz="2799" kern="100">
                <a:latin typeface="宋体" panose="02010600030101010101" pitchFamily="2" charset="-122"/>
                <a:ea typeface="楷体_GB2312" panose="02010609030101010101" pitchFamily="49" charset="-122"/>
                <a:cs typeface="Courier New" panose="02070309020205020404" pitchFamily="49" charset="0"/>
              </a:rPr>
              <a:t>型，只要抓住诗中词语，作多角度分析即可。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649998"/>
      </p:ext>
    </p:extLst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矩形 1"/>
          <p:cNvSpPr/>
          <p:nvPr/>
        </p:nvSpPr>
        <p:spPr>
          <a:xfrm>
            <a:off x="520110" y="270404"/>
            <a:ext cx="11409359" cy="633500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799" b="1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Courier New" panose="02070309020205020404" pitchFamily="49" charset="0"/>
              </a:rPr>
              <a:t>练习：</a:t>
            </a:r>
            <a:r>
              <a:rPr lang="zh-CN" altLang="zh-CN" sz="2799" b="1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阅读</a:t>
            </a:r>
            <a:r>
              <a:rPr lang="zh-CN" altLang="zh-CN" sz="2799" b="1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下面这首宋诗，完成后面题目。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zh-CN" sz="3599" kern="100">
                <a:solidFill>
                  <a:srgbClr val="C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夜登山亭</a:t>
            </a:r>
          </a:p>
          <a:p>
            <a:pPr algn="ctr">
              <a:lnSpc>
                <a:spcPct val="150000"/>
              </a:lnSpc>
            </a:pPr>
            <a:r>
              <a:rPr lang="zh-CN" altLang="zh-CN" sz="2799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陆　游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飞观峥嵘天宇宽，幽人半醉凭</a:t>
            </a:r>
            <a:r>
              <a:rPr lang="zh-CN" altLang="zh-CN" sz="2799" kern="100" smtClean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阑干</a:t>
            </a:r>
            <a:endParaRPr lang="en-US" altLang="zh-CN" sz="2799" kern="100" smtClean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799" kern="100" smtClean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。三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山</a:t>
            </a:r>
            <a:r>
              <a:rPr lang="en-US" altLang="zh-CN" sz="2799" kern="100" baseline="30000">
                <a:latin typeface="宋体" panose="02010600030101010101" pitchFamily="2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①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渺渺鸾鹤远，七泽</a:t>
            </a:r>
            <a:r>
              <a:rPr lang="en-US" altLang="zh-CN" sz="2799" kern="100" baseline="30000">
                <a:latin typeface="宋体" panose="02010600030101010101" pitchFamily="2" charset="-122"/>
                <a:ea typeface="楷体_GB2312" panose="02010609030101010101" pitchFamily="49" charset="-122"/>
                <a:cs typeface="Times New Roman" panose="02020603050405020304" pitchFamily="18" charset="0"/>
              </a:rPr>
              <a:t>②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茫茫蓑笠寒。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清吹拂林横玉笛，紫云覆鼎熟金丹</a:t>
            </a:r>
            <a:r>
              <a:rPr lang="zh-CN" altLang="zh-CN" sz="2799" kern="100" smtClean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799" kern="100" smtClean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799" kern="100" smtClean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童颜</a:t>
            </a:r>
            <a:r>
              <a:rPr lang="zh-CN" altLang="zh-CN" sz="2799" kern="10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绿鬓无人识，回首尘寰一梦残</a:t>
            </a:r>
            <a:r>
              <a:rPr lang="zh-CN" altLang="zh-CN" sz="2799" kern="100" smtClean="0">
                <a:latin typeface="Times New Roman" panose="02020603050405020304" pitchFamily="18" charset="0"/>
                <a:ea typeface="楷体_GB2312" panose="0201060903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799" kern="100" smtClean="0">
              <a:latin typeface="Times New Roman" panose="02020603050405020304" pitchFamily="18" charset="0"/>
              <a:ea typeface="楷体_GB2312" panose="0201060903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800" kern="100">
                <a:latin typeface="宋体" panose="02010600030101010101" pitchFamily="2" charset="-122"/>
                <a:cs typeface="Courier New" panose="02070309020205020404" pitchFamily="49" charset="0"/>
              </a:rPr>
              <a:t>[</a:t>
            </a:r>
            <a:r>
              <a:rPr lang="zh-CN" altLang="en-US" sz="2800" kern="100">
                <a:latin typeface="宋体" panose="02010600030101010101" pitchFamily="2" charset="-122"/>
                <a:cs typeface="Courier New" panose="02070309020205020404" pitchFamily="49" charset="0"/>
              </a:rPr>
              <a:t>注</a:t>
            </a:r>
            <a:r>
              <a:rPr lang="en-US" altLang="zh-CN" sz="2800" kern="100" smtClean="0">
                <a:latin typeface="宋体" panose="02010600030101010101" pitchFamily="2" charset="-122"/>
                <a:cs typeface="Courier New" panose="02070309020205020404" pitchFamily="49" charset="0"/>
              </a:rPr>
              <a:t>]</a:t>
            </a:r>
            <a:r>
              <a:rPr lang="zh-CN" altLang="en-US" sz="2800" kern="100" smtClean="0">
                <a:latin typeface="宋体" panose="02010600030101010101" pitchFamily="2" charset="-122"/>
                <a:cs typeface="Courier New" panose="02070309020205020404" pitchFamily="49" charset="0"/>
              </a:rPr>
              <a:t>①</a:t>
            </a:r>
            <a:r>
              <a:rPr lang="zh-CN" altLang="en-US" sz="2800" kern="100">
                <a:latin typeface="宋体" panose="02010600030101010101" pitchFamily="2" charset="-122"/>
                <a:cs typeface="Courier New" panose="02070309020205020404" pitchFamily="49" charset="0"/>
              </a:rPr>
              <a:t>三山：原指传说中的蓬莱、方丈、瀛洲三座神山；这里也指眼前所见之山。②七泽：相传古时楚有七处沼泽，后以七泽泛称楚地诸湖泊。</a:t>
            </a:r>
          </a:p>
          <a:p>
            <a:pPr algn="ctr">
              <a:lnSpc>
                <a:spcPct val="150000"/>
              </a:lnSpc>
            </a:pP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225175"/>
      </p:ext>
    </p:extLst>
  </p:cSld>
  <p:clrMapOvr>
    <a:masterClrMapping/>
  </p:clrMapOvr>
  <p:transition/>
  <p:timing/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矩形 1"/>
          <p:cNvSpPr/>
          <p:nvPr/>
        </p:nvSpPr>
        <p:spPr>
          <a:xfrm>
            <a:off x="408685" y="558869"/>
            <a:ext cx="11374631" cy="738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799" b="1" kern="100" smtClean="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请</a:t>
            </a:r>
            <a:r>
              <a:rPr lang="zh-CN" altLang="zh-CN" sz="2799" b="1" kern="100">
                <a:latin typeface="Times New Roman" panose="02020603050405020304" pitchFamily="18" charset="0"/>
                <a:ea typeface="方正中等线简体" panose="03000509000000000000" pitchFamily="65" charset="-122"/>
                <a:cs typeface="Times New Roman" panose="02020603050405020304" pitchFamily="18" charset="0"/>
              </a:rPr>
              <a:t>简要分析本诗所表达的思想感情。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23" name="圆角矩形 22">
            <a:hlinkClick action="ppaction://noaction"/>
            <a:extLst>
              <a:ext uri="{FF2B5EF4-FFF2-40B4-BE49-F238E27FC236}">
                <a16:creationId xmlns:a16="http://schemas.microsoft.com/office/drawing/2014/main" id="{0F883050-0AB0-8C4C-ADE9-A41825B397DF}"/>
              </a:ext>
            </a:extLst>
          </p:cNvPr>
          <p:cNvSpPr/>
          <p:nvPr/>
        </p:nvSpPr>
        <p:spPr>
          <a:xfrm>
            <a:off x="2287211" y="6379851"/>
            <a:ext cx="287933" cy="287933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/>
            <a:r>
              <a:rPr kumimoji="1" lang="en-US" altLang="zh-CN" sz="1600" kern="0">
                <a:solidFill>
                  <a:prstClr val="white">
                    <a:lumMod val="50000"/>
                  </a:prstClr>
                </a:solidFill>
                <a:latin typeface="Arial"/>
                <a:ea typeface="微软雅黑"/>
              </a:rPr>
              <a:t>1</a:t>
            </a:r>
            <a:endParaRPr kumimoji="1" lang="zh-CN" altLang="en-US" sz="1600" kern="0">
              <a:solidFill>
                <a:prstClr val="white">
                  <a:lumMod val="50000"/>
                </a:prstClr>
              </a:solidFill>
              <a:latin typeface="Arial"/>
              <a:ea typeface="微软雅黑"/>
            </a:endParaRPr>
          </a:p>
        </p:txBody>
      </p:sp>
      <p:sp>
        <p:nvSpPr>
          <p:cNvPr id="24" name="圆角矩形 23">
            <a:hlinkClick action="ppaction://noaction"/>
            <a:extLst>
              <a:ext uri="{FF2B5EF4-FFF2-40B4-BE49-F238E27FC236}">
                <a16:creationId xmlns:a16="http://schemas.microsoft.com/office/drawing/2014/main" id="{EC52B5E6-261B-8B4F-B90B-10F370C08EA8}"/>
              </a:ext>
            </a:extLst>
          </p:cNvPr>
          <p:cNvSpPr/>
          <p:nvPr/>
        </p:nvSpPr>
        <p:spPr>
          <a:xfrm>
            <a:off x="2681971" y="6379851"/>
            <a:ext cx="287933" cy="287933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>
              <a:defRPr/>
            </a:pPr>
            <a:r>
              <a:rPr kumimoji="1" lang="en-US" altLang="zh-CN" sz="1600" kern="0">
                <a:solidFill>
                  <a:prstClr val="white">
                    <a:lumMod val="50000"/>
                  </a:prstClr>
                </a:solidFill>
                <a:latin typeface="Arial"/>
                <a:ea typeface="微软雅黑"/>
              </a:rPr>
              <a:t>2</a:t>
            </a:r>
            <a:endParaRPr kumimoji="1" lang="zh-CN" altLang="en-US" sz="1600" kern="0">
              <a:solidFill>
                <a:prstClr val="white">
                  <a:lumMod val="50000"/>
                </a:prstClr>
              </a:solidFill>
              <a:latin typeface="Arial"/>
              <a:ea typeface="微软雅黑"/>
            </a:endParaRPr>
          </a:p>
        </p:txBody>
      </p:sp>
      <p:sp>
        <p:nvSpPr>
          <p:cNvPr id="25" name="圆角矩形 24">
            <a:hlinkClick action="ppaction://noaction"/>
            <a:extLst>
              <a:ext uri="{FF2B5EF4-FFF2-40B4-BE49-F238E27FC236}">
                <a16:creationId xmlns:a16="http://schemas.microsoft.com/office/drawing/2014/main" id="{E1124D1C-137C-274B-AEC2-CC2FA667EBE8}"/>
              </a:ext>
            </a:extLst>
          </p:cNvPr>
          <p:cNvSpPr/>
          <p:nvPr/>
        </p:nvSpPr>
        <p:spPr>
          <a:xfrm>
            <a:off x="3076732" y="6379851"/>
            <a:ext cx="287933" cy="287933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>
              <a:defRPr/>
            </a:pPr>
            <a:r>
              <a:rPr kumimoji="1" lang="en-US" altLang="zh-CN" sz="1600" kern="0">
                <a:solidFill>
                  <a:prstClr val="white">
                    <a:lumMod val="50000"/>
                  </a:prstClr>
                </a:solidFill>
                <a:latin typeface="Arial"/>
                <a:ea typeface="微软雅黑"/>
              </a:rPr>
              <a:t>3</a:t>
            </a:r>
            <a:endParaRPr kumimoji="1" lang="zh-CN" altLang="en-US" sz="1600" kern="0">
              <a:solidFill>
                <a:prstClr val="white">
                  <a:lumMod val="50000"/>
                </a:prstClr>
              </a:solidFill>
              <a:latin typeface="Arial"/>
              <a:ea typeface="微软雅黑"/>
            </a:endParaRPr>
          </a:p>
        </p:txBody>
      </p:sp>
      <p:sp>
        <p:nvSpPr>
          <p:cNvPr id="26" name="圆角矩形 25">
            <a:hlinkClick action="ppaction://noaction"/>
            <a:extLst>
              <a:ext uri="{FF2B5EF4-FFF2-40B4-BE49-F238E27FC236}">
                <a16:creationId xmlns:a16="http://schemas.microsoft.com/office/drawing/2014/main" id="{8082C30D-2916-304E-836A-919703ACA3BA}"/>
              </a:ext>
            </a:extLst>
          </p:cNvPr>
          <p:cNvSpPr/>
          <p:nvPr/>
        </p:nvSpPr>
        <p:spPr>
          <a:xfrm>
            <a:off x="3471493" y="6379851"/>
            <a:ext cx="287933" cy="287933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>
              <a:defRPr/>
            </a:pPr>
            <a:r>
              <a:rPr kumimoji="1" lang="en-US" altLang="zh-CN" sz="1600" kern="0">
                <a:solidFill>
                  <a:prstClr val="white">
                    <a:lumMod val="50000"/>
                  </a:prstClr>
                </a:solidFill>
                <a:latin typeface="Arial"/>
                <a:ea typeface="微软雅黑"/>
              </a:rPr>
              <a:t>4</a:t>
            </a:r>
            <a:endParaRPr kumimoji="1" lang="zh-CN" altLang="en-US" sz="1600" kern="0">
              <a:solidFill>
                <a:prstClr val="white">
                  <a:lumMod val="50000"/>
                </a:prstClr>
              </a:solidFill>
              <a:latin typeface="Arial"/>
              <a:ea typeface="微软雅黑"/>
            </a:endParaRPr>
          </a:p>
        </p:txBody>
      </p:sp>
      <p:sp>
        <p:nvSpPr>
          <p:cNvPr id="27" name="圆角矩形 26">
            <a:hlinkClick r:id="rId2" action="ppaction://hlinksldjump"/>
            <a:extLst>
              <a:ext uri="{FF2B5EF4-FFF2-40B4-BE49-F238E27FC236}">
                <a16:creationId xmlns:a16="http://schemas.microsoft.com/office/drawing/2014/main" id="{7F3B96DD-F8A8-0A46-AFCF-459BF20F2E59}"/>
              </a:ext>
            </a:extLst>
          </p:cNvPr>
          <p:cNvSpPr/>
          <p:nvPr/>
        </p:nvSpPr>
        <p:spPr>
          <a:xfrm>
            <a:off x="3866253" y="6379851"/>
            <a:ext cx="287933" cy="28793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17"/>
            <a:r>
              <a:rPr kumimoji="1" lang="en-US" altLang="zh-CN" sz="1600">
                <a:solidFill>
                  <a:schemeClr val="bg1"/>
                </a:solidFill>
              </a:rPr>
              <a:t>5</a:t>
            </a:r>
            <a:endParaRPr kumimoji="1" lang="zh-CN" altLang="en-US" sz="1600">
              <a:solidFill>
                <a:schemeClr val="bg1"/>
              </a:solidFill>
            </a:endParaRPr>
          </a:p>
        </p:txBody>
      </p:sp>
      <p:sp>
        <p:nvSpPr>
          <p:cNvPr id="28" name="圆角矩形 27">
            <a:hlinkClick action="ppaction://noaction"/>
            <a:extLst>
              <a:ext uri="{FF2B5EF4-FFF2-40B4-BE49-F238E27FC236}">
                <a16:creationId xmlns:a16="http://schemas.microsoft.com/office/drawing/2014/main" id="{58E73A20-BF00-044D-BD8A-524FEE077FCA}"/>
              </a:ext>
            </a:extLst>
          </p:cNvPr>
          <p:cNvSpPr/>
          <p:nvPr/>
        </p:nvSpPr>
        <p:spPr>
          <a:xfrm>
            <a:off x="4261014" y="6379851"/>
            <a:ext cx="287933" cy="287933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>
              <a:defRPr/>
            </a:pPr>
            <a:r>
              <a:rPr kumimoji="1" lang="en-US" altLang="zh-CN" sz="1600" kern="0">
                <a:solidFill>
                  <a:prstClr val="white">
                    <a:lumMod val="50000"/>
                  </a:prstClr>
                </a:solidFill>
                <a:latin typeface="Arial"/>
                <a:ea typeface="微软雅黑"/>
              </a:rPr>
              <a:t>6</a:t>
            </a:r>
            <a:endParaRPr kumimoji="1" lang="zh-CN" altLang="en-US" sz="1600" kern="0">
              <a:solidFill>
                <a:prstClr val="white">
                  <a:lumMod val="50000"/>
                </a:prstClr>
              </a:solidFill>
              <a:latin typeface="Arial"/>
              <a:ea typeface="微软雅黑"/>
            </a:endParaRPr>
          </a:p>
        </p:txBody>
      </p:sp>
      <p:sp>
        <p:nvSpPr>
          <p:cNvPr id="10" name="圆角矩形 9">
            <a:hlinkClick action="ppaction://noaction"/>
            <a:extLst>
              <a:ext uri="{FF2B5EF4-FFF2-40B4-BE49-F238E27FC236}">
                <a16:creationId xmlns:a16="http://schemas.microsoft.com/office/drawing/2014/main" id="{58E73A20-BF00-044D-BD8A-524FEE077FCA}"/>
              </a:ext>
            </a:extLst>
          </p:cNvPr>
          <p:cNvSpPr/>
          <p:nvPr/>
        </p:nvSpPr>
        <p:spPr>
          <a:xfrm>
            <a:off x="4655775" y="6379851"/>
            <a:ext cx="287933" cy="287933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>
              <a:defRPr/>
            </a:pPr>
            <a:r>
              <a:rPr kumimoji="1" lang="en-US" altLang="zh-CN" sz="1600" kern="0">
                <a:solidFill>
                  <a:prstClr val="white">
                    <a:lumMod val="50000"/>
                  </a:prstClr>
                </a:solidFill>
                <a:latin typeface="Arial"/>
                <a:ea typeface="微软雅黑"/>
              </a:rPr>
              <a:t>7</a:t>
            </a:r>
            <a:endParaRPr kumimoji="1" lang="zh-CN" altLang="en-US" sz="1600" kern="0">
              <a:solidFill>
                <a:prstClr val="white">
                  <a:lumMod val="50000"/>
                </a:prstClr>
              </a:solidFill>
              <a:latin typeface="Arial"/>
              <a:ea typeface="微软雅黑"/>
            </a:endParaRPr>
          </a:p>
        </p:txBody>
      </p:sp>
      <p:sp>
        <p:nvSpPr>
          <p:cNvPr id="11" name="圆角矩形 10">
            <a:hlinkClick action="ppaction://noaction"/>
            <a:extLst>
              <a:ext uri="{FF2B5EF4-FFF2-40B4-BE49-F238E27FC236}">
                <a16:creationId xmlns:a16="http://schemas.microsoft.com/office/drawing/2014/main" id="{58E73A20-BF00-044D-BD8A-524FEE077FCA}"/>
              </a:ext>
            </a:extLst>
          </p:cNvPr>
          <p:cNvSpPr/>
          <p:nvPr/>
        </p:nvSpPr>
        <p:spPr>
          <a:xfrm>
            <a:off x="5050535" y="6379851"/>
            <a:ext cx="287933" cy="287933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>
              <a:defRPr/>
            </a:pPr>
            <a:r>
              <a:rPr kumimoji="1" lang="en-US" altLang="zh-CN" sz="1600" kern="0">
                <a:solidFill>
                  <a:prstClr val="white">
                    <a:lumMod val="50000"/>
                  </a:prstClr>
                </a:solidFill>
                <a:latin typeface="Arial"/>
                <a:ea typeface="微软雅黑"/>
              </a:rPr>
              <a:t>8</a:t>
            </a:r>
            <a:endParaRPr kumimoji="1" lang="zh-CN" altLang="en-US" sz="1600" kern="0">
              <a:solidFill>
                <a:prstClr val="white">
                  <a:lumMod val="50000"/>
                </a:prstClr>
              </a:solidFill>
              <a:latin typeface="Arial"/>
              <a:ea typeface="微软雅黑"/>
            </a:endParaRPr>
          </a:p>
        </p:txBody>
      </p:sp>
      <p:sp>
        <p:nvSpPr>
          <p:cNvPr id="12" name="圆角矩形 11">
            <a:hlinkClick action="ppaction://noaction"/>
            <a:extLst>
              <a:ext uri="{FF2B5EF4-FFF2-40B4-BE49-F238E27FC236}">
                <a16:creationId xmlns:a16="http://schemas.microsoft.com/office/drawing/2014/main" id="{58E73A20-BF00-044D-BD8A-524FEE077FCA}"/>
              </a:ext>
            </a:extLst>
          </p:cNvPr>
          <p:cNvSpPr/>
          <p:nvPr/>
        </p:nvSpPr>
        <p:spPr>
          <a:xfrm>
            <a:off x="5445296" y="6379851"/>
            <a:ext cx="287933" cy="287933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217">
              <a:defRPr/>
            </a:pPr>
            <a:r>
              <a:rPr kumimoji="1" lang="en-US" altLang="zh-CN" sz="1600" kern="0">
                <a:solidFill>
                  <a:prstClr val="white">
                    <a:lumMod val="50000"/>
                  </a:prstClr>
                </a:solidFill>
                <a:latin typeface="Arial"/>
                <a:ea typeface="微软雅黑"/>
              </a:rPr>
              <a:t>9</a:t>
            </a:r>
            <a:endParaRPr kumimoji="1" lang="zh-CN" altLang="en-US" sz="1600" kern="0">
              <a:solidFill>
                <a:prstClr val="white">
                  <a:lumMod val="50000"/>
                </a:prstClr>
              </a:solidFill>
              <a:latin typeface="Arial"/>
              <a:ea typeface="微软雅黑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08685" y="1226630"/>
            <a:ext cx="11262011" cy="4605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799" kern="10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答案　</a:t>
            </a:r>
            <a:r>
              <a:rPr lang="en-US" altLang="zh-CN" sz="2799" kern="100">
                <a:latin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迷茫孤寂之情。诗人半醉倚栏，放目远眺，三山渺渺，遥不可达；自比渔翁，独钓寒江，表达了诗人迷茫、孤寂的心情。</a:t>
            </a:r>
            <a:endParaRPr lang="en-US" altLang="zh-CN" sz="2799" kern="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799" kern="100" smtClean="0">
                <a:latin typeface="宋体" panose="02010600030101010101" pitchFamily="2" charset="-122"/>
                <a:cs typeface="Times New Roman" panose="02020603050405020304" pitchFamily="18" charset="0"/>
              </a:rPr>
              <a:t>    ②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不被重用的不满。清风拂林，横吹玉笛，紫云覆鼎，金丹将熟，表面上看诗人似有当炼丹术士的想法，其实是正话反说，实则表达了诗人对自己不被重用的不满。</a:t>
            </a:r>
            <a:endParaRPr lang="en-US" altLang="zh-CN" sz="2799" kern="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799" kern="100" smtClean="0">
                <a:latin typeface="宋体" panose="02010600030101010101" pitchFamily="2" charset="-122"/>
                <a:cs typeface="Times New Roman" panose="02020603050405020304" pitchFamily="18" charset="0"/>
              </a:rPr>
              <a:t>     ③</a:t>
            </a:r>
            <a:r>
              <a:rPr lang="zh-CN" altLang="zh-CN" sz="2799" kern="100">
                <a:latin typeface="Times New Roman" panose="02020603050405020304" pitchFamily="18" charset="0"/>
                <a:cs typeface="Times New Roman" panose="02020603050405020304" pitchFamily="18" charset="0"/>
              </a:rPr>
              <a:t>无人赏识、梦想破灭的悲愤。童颜绿鬓，无人赏识；回首尘寰，梦想破灭。</a:t>
            </a:r>
            <a:endParaRPr lang="zh-CN" altLang="zh-CN" sz="1050" kern="100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5471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</p:tagLst>
</file>

<file path=ppt/theme/theme1.xml><?xml version="1.0" encoding="utf-8"?>
<a:theme xmlns:r="http://schemas.openxmlformats.org/officeDocument/2006/relationships"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110</Paragraphs>
  <Slides>42</Slides>
  <Notes>1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baseType="lpstr" size="54">
      <vt:lpstr>Arial</vt:lpstr>
      <vt:lpstr>Calibri Light</vt:lpstr>
      <vt:lpstr>宋体</vt:lpstr>
      <vt:lpstr>Calibri</vt:lpstr>
      <vt:lpstr>Times New Roman</vt:lpstr>
      <vt:lpstr>方正中等线简体</vt:lpstr>
      <vt:lpstr>Courier New</vt:lpstr>
      <vt:lpstr>微软雅黑</vt:lpstr>
      <vt:lpstr>楷体_GB2312</vt:lpstr>
      <vt:lpstr>隶书</vt:lpstr>
      <vt:lpstr>仿宋_GB2312</vt:lpstr>
      <vt:lpstr>1_Office 主题</vt:lpstr>
      <vt:lpstr>第五讲</vt:lpstr>
      <vt:lpstr>一、考情概览</vt:lpstr>
      <vt:lpstr>二、古代诗人的人生理想及其情感</vt:lpstr>
      <vt:lpstr>PowerPoint Presentation</vt:lpstr>
      <vt:lpstr>2、古代诗歌的情感类型及体现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（3）诗歌题材与情感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三、把握分析情感的方法与路径</vt:lpstr>
      <vt:lpstr>PowerPoint Presentation</vt:lpstr>
      <vt:lpstr>PowerPoint Presentation</vt:lpstr>
      <vt:lpstr>PowerPoint Presentation</vt:lpstr>
      <vt:lpstr>PowerPoint Presentation</vt:lpstr>
      <vt:lpstr>(二)借景察情</vt:lpstr>
      <vt:lpstr>1、如何把握景物中的情感？</vt:lpstr>
      <vt:lpstr>PowerPoint Presentation</vt:lpstr>
      <vt:lpstr>PowerPoint Presentation</vt:lpstr>
      <vt:lpstr>PowerPoint Presentation</vt:lpstr>
      <vt:lpstr>(三)典故挖情</vt:lpstr>
      <vt:lpstr>PowerPoint Presentation</vt:lpstr>
      <vt:lpstr>PowerPoint Presentation</vt:lpstr>
      <vt:lpstr>PowerPoint Presentation</vt:lpstr>
      <vt:lpstr>(四)时空显情</vt:lpstr>
      <vt:lpstr>PowerPoint Presentation</vt:lpstr>
      <vt:lpstr>PowerPoint Presentation</vt:lpstr>
      <vt:lpstr>PowerPoint Presentation</vt:lpstr>
      <vt:lpstr>四、情感答题规范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2023-07-13T10:54:41.978</cp:lastPrinted>
  <dcterms:created xsi:type="dcterms:W3CDTF">2023-07-13T10:54:41Z</dcterms:created>
  <dcterms:modified xsi:type="dcterms:W3CDTF">2023-07-13T02:54:41Z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